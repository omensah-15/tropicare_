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5.jpeg" ContentType="image/jpeg"/>
  <Override PartName="/ppt/media/image16.png" ContentType="image/png"/>
  <Override PartName="/ppt/media/image7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18.png" ContentType="image/png"/>
  <Override PartName="/ppt/media/image9.png" ContentType="image/png"/>
  <Override PartName="/ppt/media/image13.png" ContentType="image/png"/>
  <Override PartName="/ppt/media/image4.png" ContentType="image/png"/>
  <Override PartName="/ppt/media/image31.png" ContentType="image/png"/>
  <Override PartName="/ppt/media/image32.png" ContentType="image/png"/>
  <Override PartName="/ppt/media/image30.png" ContentType="image/png"/>
  <Override PartName="/ppt/media/image3.jpeg" ContentType="image/jpeg"/>
  <Override PartName="/ppt/media/image6.png" ContentType="image/png"/>
  <Override PartName="/ppt/media/image15.png" ContentType="image/png"/>
  <Override PartName="/ppt/media/image20.png" ContentType="image/png"/>
  <Override PartName="/ppt/media/image2.jpeg" ContentType="image/jpeg"/>
  <Override PartName="/ppt/media/image1.jpeg" ContentType="image/jpeg"/>
  <Override PartName="/ppt/media/image10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12.xml.rels" ContentType="application/vnd.openxmlformats-package.relationships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986393A-A106-49D3-A635-CF55FA7FD899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3040" cy="36064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6920" cy="42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52"/>
          </p:nvPr>
        </p:nvSpPr>
        <p:spPr>
          <a:xfrm>
            <a:off x="4281480" y="10155240"/>
            <a:ext cx="327528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EE7C89-6760-4F72-8EAC-32EB45967F92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807979-DAC5-4227-9F1D-045211EBD7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00E3A-455D-43CB-BA94-1C585FBCAB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3DD5E8D-9959-447D-B47B-F89AC3A17F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DF59BA1-F4F4-40EA-9739-D9B4BA4714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4177492-D8D7-47CE-B330-AA37AD3C58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50B3D8E-2513-47C2-937A-B67FBB3212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A8752EA-1267-47C9-945D-34FCC5AEC3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8B92F64-1118-44D1-B936-0B2EA964DF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59B77D6-59B8-46F5-911B-292E91D95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038A6D5-4D91-440B-B5B2-698F81FA03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D688F84-DD88-40DD-82C4-E3D357A42C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4D477E4-9B25-4BBA-9A0C-E9129D285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B526A27-8548-4355-AD44-6A142396B8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ABFDD541-CB4A-4CFC-BCB6-201349E9B0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989589A-9EC5-4B66-A860-8750A7609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7776949-029A-4AD3-9AD2-923E44D5A6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endParaRPr b="0" lang="en-GB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24A82E-66E9-401D-95E2-B276607ACA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4</a:t>
            </a:fld>
            <a:endParaRPr b="0" lang="en-GB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Times New Roman"/>
              </a:rPr>
              <a:t> </a:t>
            </a:r>
            <a:endParaRPr b="0" lang="en-GB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1A03C6-BA7E-4544-9F9D-C1AE994179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A7CDAD-7ED1-4B76-8941-6835C4632A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8DF900-ECF5-4608-B844-C90B0D21ED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774ED-0EEF-4FE2-A0B5-E21329744B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8D7366-3E10-45F1-A9BF-97DA32EC3D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9"/>
          </p:nvPr>
        </p:nvSpPr>
        <p:spPr>
          <a:xfrm>
            <a:off x="7071120" y="5266080"/>
            <a:ext cx="20181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0"/>
          </p:nvPr>
        </p:nvSpPr>
        <p:spPr>
          <a:xfrm>
            <a:off x="9662760" y="5266080"/>
            <a:ext cx="20181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7B9384-56B4-40B9-B415-164DE5F408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1"/>
          </p:nvPr>
        </p:nvSpPr>
        <p:spPr>
          <a:xfrm>
            <a:off x="5023440" y="5266080"/>
            <a:ext cx="1474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65D7D3-B891-4BB5-9CB0-C46E5AE4B3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700AAE-B695-4AED-B55E-D3C244FCB6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0840B5-6FAD-4DAC-86DC-0AF2E2E3BD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376753-20D4-4A19-90B8-01D8855EB2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B5A7CB-1C39-4C01-8A65-A92B869FE8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37"/>
          </p:nvPr>
        </p:nvSpPr>
        <p:spPr>
          <a:xfrm>
            <a:off x="4038480" y="635616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38"/>
          </p:nvPr>
        </p:nvSpPr>
        <p:spPr>
          <a:xfrm>
            <a:off x="8610480" y="6356160"/>
            <a:ext cx="273600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algn="l" pos="0"/>
              </a:tabLst>
            </a:pPr>
            <a:fld id="{0875CFA7-9F62-4911-B7B1-95F7BAA4D861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dt" idx="39"/>
          </p:nvPr>
        </p:nvSpPr>
        <p:spPr>
          <a:xfrm>
            <a:off x="838080" y="6356160"/>
            <a:ext cx="273600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0580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420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1ABE9D-EDDD-44BA-BFE4-32E9F33C74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420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0392AA-1D8C-4294-AD84-81CABC0DF0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5720" cy="11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FFC833-EF6E-4F84-8C01-B8A66E48B6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20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3"/>
          <p:cNvSpPr/>
          <p:nvPr/>
        </p:nvSpPr>
        <p:spPr>
          <a:xfrm>
            <a:off x="4960800" y="3602880"/>
            <a:ext cx="6775920" cy="23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Tahoma"/>
              </a:rPr>
              <a:t>MENSAH OBED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Tahoma"/>
              </a:rPr>
              <a:t>AFRIQUE-AHALI KEKELI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Tahoma"/>
              </a:rPr>
              <a:t>SUPERVISOR: PROF. J.J. KPONYO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425840" y="1485720"/>
            <a:ext cx="762048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rgbClr val="044702"/>
                </a:solidFill>
                <a:latin typeface="Arial"/>
                <a:ea typeface="Tahoma"/>
              </a:rPr>
              <a:t>AI-Powered Symptom Checker for Tropical Diseases (SCTD)</a:t>
            </a:r>
            <a:endParaRPr b="0" lang="en-GB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80"/>
          <p:cNvSpPr/>
          <p:nvPr/>
        </p:nvSpPr>
        <p:spPr>
          <a:xfrm>
            <a:off x="11657160" y="5940000"/>
            <a:ext cx="381672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0C2B3DE7-521D-4A65-AEE1-2A4FD26C4207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1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93160" y="711720"/>
            <a:ext cx="3237480" cy="53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600" spc="-1" strike="noStrike">
                <a:solidFill>
                  <a:srgbClr val="044702"/>
                </a:solidFill>
                <a:latin typeface="Arial"/>
                <a:ea typeface="Tahoma"/>
              </a:rPr>
              <a:t>Outline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Slide Number Placeholder 1"/>
          <p:cNvSpPr/>
          <p:nvPr/>
        </p:nvSpPr>
        <p:spPr>
          <a:xfrm>
            <a:off x="11184120" y="5853600"/>
            <a:ext cx="20152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Kanit"/>
                <a:ea typeface="DejaVu Sans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112" descr=""/>
          <p:cNvPicPr/>
          <p:nvPr/>
        </p:nvPicPr>
        <p:blipFill>
          <a:blip r:embed="rId1"/>
          <a:stretch/>
        </p:blipFill>
        <p:spPr>
          <a:xfrm>
            <a:off x="1279800" y="1440000"/>
            <a:ext cx="9563760" cy="4346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DC0327A-009F-4008-ADC8-477A5D159C4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4"/>
          <p:cNvSpPr/>
          <p:nvPr/>
        </p:nvSpPr>
        <p:spPr>
          <a:xfrm>
            <a:off x="900360" y="720360"/>
            <a:ext cx="323748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44702"/>
                </a:solidFill>
                <a:latin typeface="Arial"/>
                <a:ea typeface="Tahoma"/>
              </a:rPr>
              <a:t>Introduction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85"/>
          <p:cNvSpPr/>
          <p:nvPr/>
        </p:nvSpPr>
        <p:spPr>
          <a:xfrm>
            <a:off x="900000" y="1800000"/>
            <a:ext cx="4133520" cy="34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Rectangle 86"/>
          <p:cNvSpPr/>
          <p:nvPr/>
        </p:nvSpPr>
        <p:spPr>
          <a:xfrm>
            <a:off x="11136240" y="5817600"/>
            <a:ext cx="381672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779E8CF0-2B8B-4F1A-AA86-E341961C1B12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87"/>
          <p:cNvSpPr/>
          <p:nvPr/>
        </p:nvSpPr>
        <p:spPr>
          <a:xfrm>
            <a:off x="900000" y="1550520"/>
            <a:ext cx="4003200" cy="40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GB" sz="1600" spc="-1" strike="noStrike">
              <a:solidFill>
                <a:srgbClr val="000000"/>
              </a:solidFill>
              <a:latin typeface="Kanit"/>
              <a:ea typeface="DejaVu Sans"/>
            </a:endParaRPr>
          </a:p>
        </p:txBody>
      </p:sp>
      <p:graphicFrame>
        <p:nvGraphicFramePr>
          <p:cNvPr id="122" name="Table 1"/>
          <p:cNvGraphicFramePr/>
          <p:nvPr/>
        </p:nvGraphicFramePr>
        <p:xfrm>
          <a:off x="661320" y="1281960"/>
          <a:ext cx="5433840" cy="4478040"/>
        </p:xfrm>
        <a:graphic>
          <a:graphicData uri="http://schemas.openxmlformats.org/drawingml/2006/table">
            <a:tbl>
              <a:tblPr/>
              <a:tblGrid>
                <a:gridCol w="5434200"/>
              </a:tblGrid>
              <a:tr h="4478040">
                <a:tc>
                  <a:txBody>
                    <a:bodyPr anchor="ctr">
                      <a:noAutofit/>
                    </a:bodyPr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Healthcare delivery in Ghana has improved over the years.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Ghana already incorporates digital tools such as DHIMS2 and EHR for data aggregation and management.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Artificial Intelligence enables intelligent data analysis and supports faster decision-making.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Therefore, it can be incorporated in our healthcare systems to improve efficiency.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3" name="Picture 2" descr="A group of people in scrubs using a tablet"/>
          <p:cNvPicPr/>
          <p:nvPr/>
        </p:nvPicPr>
        <p:blipFill>
          <a:blip r:embed="rId1"/>
          <a:srcRect l="0" t="0" r="7272" b="0"/>
          <a:stretch/>
        </p:blipFill>
        <p:spPr>
          <a:xfrm>
            <a:off x="6105600" y="1265760"/>
            <a:ext cx="5040360" cy="450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: Rounded Corners 28"/>
          <p:cNvSpPr/>
          <p:nvPr/>
        </p:nvSpPr>
        <p:spPr>
          <a:xfrm>
            <a:off x="8894880" y="1254240"/>
            <a:ext cx="239400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lt1"/>
              </a:solidFill>
              <a:latin typeface="Kanit"/>
              <a:ea typeface="DejaVu Sans"/>
            </a:endParaRPr>
          </a:p>
        </p:txBody>
      </p:sp>
      <p:sp>
        <p:nvSpPr>
          <p:cNvPr id="125" name="Rectangle: Rounded Corners 19"/>
          <p:cNvSpPr/>
          <p:nvPr/>
        </p:nvSpPr>
        <p:spPr>
          <a:xfrm>
            <a:off x="923040" y="3764880"/>
            <a:ext cx="239508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26" name="PlaceHolder 5"/>
          <p:cNvSpPr/>
          <p:nvPr/>
        </p:nvSpPr>
        <p:spPr>
          <a:xfrm>
            <a:off x="900360" y="720360"/>
            <a:ext cx="467712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44702"/>
                </a:solidFill>
                <a:latin typeface="Arial"/>
                <a:ea typeface="Tahoma"/>
              </a:rPr>
              <a:t>Problem Statement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92"/>
          <p:cNvSpPr/>
          <p:nvPr/>
        </p:nvSpPr>
        <p:spPr>
          <a:xfrm>
            <a:off x="902160" y="1440000"/>
            <a:ext cx="5191920" cy="38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Rectangle 93"/>
          <p:cNvSpPr/>
          <p:nvPr/>
        </p:nvSpPr>
        <p:spPr>
          <a:xfrm>
            <a:off x="11112480" y="5804280"/>
            <a:ext cx="3820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D9940F72-33EE-431E-9093-2976B26FE535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: Rounded Corners 1"/>
          <p:cNvSpPr/>
          <p:nvPr/>
        </p:nvSpPr>
        <p:spPr>
          <a:xfrm>
            <a:off x="932760" y="1254240"/>
            <a:ext cx="239400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lt1"/>
              </a:solidFill>
              <a:latin typeface="Kanit"/>
              <a:ea typeface="DejaVu Sans"/>
            </a:endParaRPr>
          </a:p>
        </p:txBody>
      </p:sp>
      <p:sp>
        <p:nvSpPr>
          <p:cNvPr id="130" name="Rectangle: Rounded Corners 4"/>
          <p:cNvSpPr/>
          <p:nvPr/>
        </p:nvSpPr>
        <p:spPr>
          <a:xfrm>
            <a:off x="902160" y="2506320"/>
            <a:ext cx="240300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lt2">
                  <a:lumMod val="10000"/>
                </a:schemeClr>
              </a:solidFill>
              <a:latin typeface="Arial"/>
              <a:ea typeface="DejaVu Sans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1260000" y="2598480"/>
            <a:ext cx="21337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Lack of Accessible Decision-Support tools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1675800" y="3834360"/>
            <a:ext cx="1579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Social and interpersonal influence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: Rounded Corners 9"/>
          <p:cNvSpPr/>
          <p:nvPr/>
        </p:nvSpPr>
        <p:spPr>
          <a:xfrm>
            <a:off x="4898160" y="2324520"/>
            <a:ext cx="2608200" cy="11872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34" name="Picture 10" descr=""/>
          <p:cNvPicPr/>
          <p:nvPr/>
        </p:nvPicPr>
        <p:blipFill>
          <a:blip r:embed="rId1"/>
          <a:stretch/>
        </p:blipFill>
        <p:spPr>
          <a:xfrm>
            <a:off x="8966880" y="1400400"/>
            <a:ext cx="771480" cy="621000"/>
          </a:xfrm>
          <a:prstGeom prst="rect">
            <a:avLst/>
          </a:prstGeom>
          <a:ln w="0">
            <a:noFill/>
          </a:ln>
        </p:spPr>
      </p:pic>
      <p:sp>
        <p:nvSpPr>
          <p:cNvPr id="135" name="TextBox 11"/>
          <p:cNvSpPr/>
          <p:nvPr/>
        </p:nvSpPr>
        <p:spPr>
          <a:xfrm>
            <a:off x="5700240" y="2461320"/>
            <a:ext cx="1745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Reliance on Self-Diagnosis without Medical Knowledge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: Rounded Corners 12"/>
          <p:cNvSpPr/>
          <p:nvPr/>
        </p:nvSpPr>
        <p:spPr>
          <a:xfrm>
            <a:off x="8845560" y="2441520"/>
            <a:ext cx="239508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37" name="Picture 13" descr=""/>
          <p:cNvPicPr/>
          <p:nvPr/>
        </p:nvPicPr>
        <p:blipFill>
          <a:blip r:embed="rId2"/>
          <a:stretch/>
        </p:blipFill>
        <p:spPr>
          <a:xfrm>
            <a:off x="9023760" y="2605320"/>
            <a:ext cx="566280" cy="5662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14"/>
          <p:cNvSpPr/>
          <p:nvPr/>
        </p:nvSpPr>
        <p:spPr>
          <a:xfrm>
            <a:off x="9590040" y="2549160"/>
            <a:ext cx="1640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Disease Progression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9" name="Straight Arrow Connector 15"/>
          <p:cNvCxnSpPr>
            <a:endCxn id="133" idx="1"/>
          </p:cNvCxnSpPr>
          <p:nvPr/>
        </p:nvCxnSpPr>
        <p:spPr>
          <a:xfrm>
            <a:off x="3317760" y="1382400"/>
            <a:ext cx="1580760" cy="15361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40" name="Straight Arrow Connector 16"/>
          <p:cNvCxnSpPr>
            <a:endCxn id="133" idx="1"/>
          </p:cNvCxnSpPr>
          <p:nvPr/>
        </p:nvCxnSpPr>
        <p:spPr>
          <a:xfrm flipV="1">
            <a:off x="3317760" y="2918160"/>
            <a:ext cx="1580760" cy="133776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41" name="Straight Arrow Connector 17"/>
          <p:cNvCxnSpPr>
            <a:stCxn id="131" idx="3"/>
            <a:endCxn id="133" idx="1"/>
          </p:cNvCxnSpPr>
          <p:nvPr/>
        </p:nvCxnSpPr>
        <p:spPr>
          <a:xfrm flipV="1">
            <a:off x="3393720" y="2918160"/>
            <a:ext cx="1504800" cy="9144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42" name="Straight Arrow Connector 18"/>
          <p:cNvCxnSpPr/>
          <p:nvPr/>
        </p:nvCxnSpPr>
        <p:spPr>
          <a:xfrm>
            <a:off x="7507080" y="2888640"/>
            <a:ext cx="1369080" cy="12481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43" name="Straight Arrow Connector 22"/>
          <p:cNvCxnSpPr>
            <a:endCxn id="124" idx="1"/>
          </p:cNvCxnSpPr>
          <p:nvPr/>
        </p:nvCxnSpPr>
        <p:spPr>
          <a:xfrm flipV="1">
            <a:off x="7508160" y="1711080"/>
            <a:ext cx="1387080" cy="117648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44" name="Straight Arrow Connector 24"/>
          <p:cNvCxnSpPr>
            <a:endCxn id="136" idx="1"/>
          </p:cNvCxnSpPr>
          <p:nvPr/>
        </p:nvCxnSpPr>
        <p:spPr>
          <a:xfrm>
            <a:off x="7496280" y="2888640"/>
            <a:ext cx="1349640" cy="1008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sp>
        <p:nvSpPr>
          <p:cNvPr id="145" name="Rectangle: Rounded Corners 29"/>
          <p:cNvSpPr/>
          <p:nvPr/>
        </p:nvSpPr>
        <p:spPr>
          <a:xfrm>
            <a:off x="8883000" y="3760200"/>
            <a:ext cx="239400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lt1"/>
              </a:solidFill>
              <a:latin typeface="Kanit"/>
              <a:ea typeface="DejaVu Sans"/>
            </a:endParaRPr>
          </a:p>
        </p:txBody>
      </p:sp>
      <p:sp>
        <p:nvSpPr>
          <p:cNvPr id="146" name="TextBox 47"/>
          <p:cNvSpPr/>
          <p:nvPr/>
        </p:nvSpPr>
        <p:spPr>
          <a:xfrm>
            <a:off x="1510560" y="1355040"/>
            <a:ext cx="1744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Hospital Waiting Times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49" descr=""/>
          <p:cNvPicPr/>
          <p:nvPr/>
        </p:nvPicPr>
        <p:blipFill>
          <a:blip r:embed="rId3"/>
          <a:stretch/>
        </p:blipFill>
        <p:spPr>
          <a:xfrm>
            <a:off x="950760" y="1390680"/>
            <a:ext cx="621000" cy="62100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51" descr=""/>
          <p:cNvPicPr/>
          <p:nvPr/>
        </p:nvPicPr>
        <p:blipFill>
          <a:blip r:embed="rId4"/>
          <a:stretch/>
        </p:blipFill>
        <p:spPr>
          <a:xfrm>
            <a:off x="840960" y="2605320"/>
            <a:ext cx="623160" cy="62100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53" descr=""/>
          <p:cNvPicPr/>
          <p:nvPr/>
        </p:nvPicPr>
        <p:blipFill>
          <a:blip r:embed="rId5"/>
          <a:stretch/>
        </p:blipFill>
        <p:spPr>
          <a:xfrm>
            <a:off x="1045080" y="3915360"/>
            <a:ext cx="621000" cy="62100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55" descr=""/>
          <p:cNvPicPr/>
          <p:nvPr/>
        </p:nvPicPr>
        <p:blipFill>
          <a:blip r:embed="rId6"/>
          <a:stretch/>
        </p:blipFill>
        <p:spPr>
          <a:xfrm>
            <a:off x="4939560" y="2405160"/>
            <a:ext cx="983880" cy="963000"/>
          </a:xfrm>
          <a:prstGeom prst="rect">
            <a:avLst/>
          </a:prstGeom>
          <a:ln w="0">
            <a:noFill/>
          </a:ln>
        </p:spPr>
      </p:pic>
      <p:sp>
        <p:nvSpPr>
          <p:cNvPr id="151" name="TextBox 56"/>
          <p:cNvSpPr/>
          <p:nvPr/>
        </p:nvSpPr>
        <p:spPr>
          <a:xfrm>
            <a:off x="9590400" y="1372320"/>
            <a:ext cx="16401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Incorrect Self Medication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Picture 58" descr=""/>
          <p:cNvPicPr/>
          <p:nvPr/>
        </p:nvPicPr>
        <p:blipFill>
          <a:blip r:embed="rId7"/>
          <a:stretch/>
        </p:blipFill>
        <p:spPr>
          <a:xfrm>
            <a:off x="9069840" y="3834360"/>
            <a:ext cx="621000" cy="621000"/>
          </a:xfrm>
          <a:prstGeom prst="rect">
            <a:avLst/>
          </a:prstGeom>
          <a:ln w="0">
            <a:noFill/>
          </a:ln>
        </p:spPr>
      </p:pic>
      <p:sp>
        <p:nvSpPr>
          <p:cNvPr id="153" name="TextBox 59"/>
          <p:cNvSpPr/>
          <p:nvPr/>
        </p:nvSpPr>
        <p:spPr>
          <a:xfrm>
            <a:off x="9644040" y="3772440"/>
            <a:ext cx="16401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Unnecessary Hospital Visits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4" name="Table 72"/>
          <p:cNvGraphicFramePr/>
          <p:nvPr/>
        </p:nvGraphicFramePr>
        <p:xfrm>
          <a:off x="1037880" y="4959720"/>
          <a:ext cx="9977400" cy="1006560"/>
        </p:xfrm>
        <a:graphic>
          <a:graphicData uri="http://schemas.openxmlformats.org/drawingml/2006/table">
            <a:tbl>
              <a:tblPr/>
              <a:tblGrid>
                <a:gridCol w="99777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i="1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Kanit"/>
                          <a:ea typeface="DejaVu Sans"/>
                        </a:rPr>
                        <a:t>The absence of a symptom checker tool that provides health guidance leads individuals to make uninformed health decisions which can cause adverse effects.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68680" y="651960"/>
            <a:ext cx="43484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44702"/>
                </a:solidFill>
                <a:latin typeface="Arial"/>
                <a:ea typeface="DejaVu Sans"/>
              </a:rPr>
              <a:t>Literature</a:t>
            </a:r>
            <a:r>
              <a:rPr b="1" lang="en-US" sz="3200" spc="-1" strike="noStrike">
                <a:solidFill>
                  <a:srgbClr val="044702"/>
                </a:solidFill>
                <a:latin typeface="Kanit"/>
                <a:ea typeface="DejaVu Sans"/>
              </a:rPr>
              <a:t> Review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156" name="Table 4"/>
          <p:cNvGraphicFramePr/>
          <p:nvPr/>
        </p:nvGraphicFramePr>
        <p:xfrm>
          <a:off x="868680" y="1080000"/>
          <a:ext cx="10202040" cy="4766040"/>
        </p:xfrm>
        <a:graphic>
          <a:graphicData uri="http://schemas.openxmlformats.org/drawingml/2006/table">
            <a:tbl>
              <a:tblPr/>
              <a:tblGrid>
                <a:gridCol w="555840"/>
                <a:gridCol w="3512520"/>
                <a:gridCol w="2021040"/>
                <a:gridCol w="2077920"/>
                <a:gridCol w="2035080"/>
              </a:tblGrid>
              <a:tr h="340560">
                <a:tc>
                  <a:txBody>
                    <a:bodyPr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No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ARTICLE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METHODOLOGY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FINDINGS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LIMITATIONS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448640">
                <a:tc>
                  <a:txBody>
                    <a:bodyPr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W. Wallace et al., 2021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“</a:t>
                      </a: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 diagnostic and triage accuracy of digital and online symptom checker tools: a systematic review”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Systematic review of 10 studies (MEDLINE, Web of Science), QUADAS-2 quality assessment.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Diagnostic accuracy very low (19–37.9%), triage accuracy inconsistent (48.8–90.1%)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Poor diagnostic reliability, safety concerns, lack of real-world validation.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1448640">
                <a:tc>
                  <a:txBody>
                    <a:bodyPr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2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Gaurav Sharma et al., 2025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“</a:t>
                      </a: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AI-Based Symptom Checker Tools: Towards Accessible and Reliable Primary Healthcare Support”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Systematic review of AI symptom checkers and CDSS tools.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AI improves early detection, reduces hospital burden, enables self-triage.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Algorithm bias, poor datasets and lack of clinical validation.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1528200">
                <a:tc>
                  <a:txBody>
                    <a:bodyPr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3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Yue You &amp; Xinning Gui, 2021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“</a:t>
                      </a: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Self-Diagnosis through AI-enabled Chatbot-based Symptom Checkers”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User review analysis + interviews on chatbot-based symptom checkers.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Current systems lack depth compared to real clinical consultations.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Rigid symptom input and hard-to-understand questions.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7" name="Rectangle 96"/>
          <p:cNvSpPr/>
          <p:nvPr/>
        </p:nvSpPr>
        <p:spPr>
          <a:xfrm>
            <a:off x="11173680" y="5846400"/>
            <a:ext cx="3820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4880F8A4-41D5-497B-BFAC-B644A891D3A3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Table 6"/>
          <p:cNvGraphicFramePr/>
          <p:nvPr/>
        </p:nvGraphicFramePr>
        <p:xfrm>
          <a:off x="931680" y="1255320"/>
          <a:ext cx="10203120" cy="3343680"/>
        </p:xfrm>
        <a:graphic>
          <a:graphicData uri="http://schemas.openxmlformats.org/drawingml/2006/table">
            <a:tbl>
              <a:tblPr/>
              <a:tblGrid>
                <a:gridCol w="555480"/>
                <a:gridCol w="3512520"/>
                <a:gridCol w="2020680"/>
                <a:gridCol w="2078280"/>
                <a:gridCol w="2036520"/>
              </a:tblGrid>
              <a:tr h="328320">
                <a:tc>
                  <a:txBody>
                    <a:bodyPr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No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ARTICLE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METHODOLOGY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FINDINGS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LIMITATIONS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343520">
                <a:tc>
                  <a:txBody>
                    <a:bodyPr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4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Emmanuel Pratt-Koomson &amp; Abraham Aidoo Borsah, 2025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“</a:t>
                      </a: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Enhancing Diabetes Diagnosis in Ghana Through Machine Learning”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ML models (LR, RF, SVM, XGBoost) on 4,500 Ghana Health Service records + interviews.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XGBoost achieved very high accuracy.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Low digital literacy and data privacy concerns.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1343520">
                <a:tc>
                  <a:txBody>
                    <a:bodyPr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5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Pyla Jyothi et al., 2024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“</a:t>
                      </a: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Disease Prediction Using Naive Bayes, Random Forest, Decision Tree and KNN Algorithms</a:t>
                      </a:r>
                      <a:r>
                        <a:rPr b="1" lang="en-GB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.”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Used Naive Bayes, Random Forest, Decision Tree, and KNN classifiers to predict diseases from patient-reported symptoms.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 system accurately predicted diseases from symptoms.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GB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Lack of adaptive questioning as users input symptoms manually.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9" name="Title 1"/>
          <p:cNvSpPr/>
          <p:nvPr/>
        </p:nvSpPr>
        <p:spPr>
          <a:xfrm>
            <a:off x="868680" y="635040"/>
            <a:ext cx="66888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44702"/>
                </a:solidFill>
                <a:latin typeface="Arial"/>
                <a:ea typeface="DejaVu Sans"/>
              </a:rPr>
              <a:t>Literature Review (Continued)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99"/>
          <p:cNvSpPr/>
          <p:nvPr/>
        </p:nvSpPr>
        <p:spPr>
          <a:xfrm>
            <a:off x="11072160" y="5794200"/>
            <a:ext cx="3820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7D483F66-B146-4E79-B56F-1667BE9C2568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61040" y="716400"/>
            <a:ext cx="10161360" cy="61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24800"/>
                </a:solidFill>
                <a:latin typeface="Arial"/>
                <a:ea typeface="DejaVu Sans"/>
              </a:rPr>
              <a:t>General And Specific Objectives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Rectangle: Rounded Corners 6"/>
          <p:cNvSpPr/>
          <p:nvPr/>
        </p:nvSpPr>
        <p:spPr>
          <a:xfrm>
            <a:off x="6580440" y="1373040"/>
            <a:ext cx="4686840" cy="1287720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>
            <a:solidFill>
              <a:srgbClr val="dca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design an adaptive interface where individuals answer rounds of icon based yes or no questions, with AI dynamically choosing follow up questions.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: Rounded Corners 7"/>
          <p:cNvSpPr/>
          <p:nvPr/>
        </p:nvSpPr>
        <p:spPr>
          <a:xfrm>
            <a:off x="6600240" y="2959920"/>
            <a:ext cx="4667040" cy="1277640"/>
          </a:xfrm>
          <a:prstGeom prst="roundRect">
            <a:avLst>
              <a:gd name="adj" fmla="val 16667"/>
            </a:avLst>
          </a:prstGeom>
          <a:solidFill>
            <a:srgbClr val="f3f6ff"/>
          </a:solidFill>
          <a:ln>
            <a:solidFill>
              <a:srgbClr val="00a9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train our machine learning models on 23 tropical and common diseases relevant to Ghanaians.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: Rounded Corners 8"/>
          <p:cNvSpPr/>
          <p:nvPr/>
        </p:nvSpPr>
        <p:spPr>
          <a:xfrm>
            <a:off x="6576120" y="4584240"/>
            <a:ext cx="4690800" cy="1277640"/>
          </a:xfrm>
          <a:prstGeom prst="roundRect">
            <a:avLst>
              <a:gd name="adj" fmla="val 16667"/>
            </a:avLst>
          </a:prstGeom>
          <a:solidFill>
            <a:srgbClr val="f2f9f5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display the predicted disease and recommend the best course of action to individuals.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lide Number Placeholder 2"/>
          <p:cNvSpPr/>
          <p:nvPr/>
        </p:nvSpPr>
        <p:spPr>
          <a:xfrm>
            <a:off x="11832840" y="5953680"/>
            <a:ext cx="357840" cy="9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66" name="Group 3"/>
          <p:cNvGrpSpPr/>
          <p:nvPr/>
        </p:nvGrpSpPr>
        <p:grpSpPr>
          <a:xfrm>
            <a:off x="4136760" y="1495440"/>
            <a:ext cx="2476800" cy="1070280"/>
            <a:chOff x="4136760" y="1495440"/>
            <a:chExt cx="2476800" cy="1070280"/>
          </a:xfrm>
        </p:grpSpPr>
        <p:cxnSp>
          <p:nvCxnSpPr>
            <p:cNvPr id="167" name="Straight Connector 6"/>
            <p:cNvCxnSpPr/>
            <p:nvPr/>
          </p:nvCxnSpPr>
          <p:spPr>
            <a:xfrm flipV="1">
              <a:off x="4136760" y="2039040"/>
              <a:ext cx="531360" cy="453960"/>
            </a:xfrm>
            <a:prstGeom prst="straightConnector1">
              <a:avLst/>
            </a:prstGeom>
            <a:ln w="57150">
              <a:solidFill>
                <a:srgbClr val="171717"/>
              </a:solidFill>
              <a:round/>
            </a:ln>
          </p:spPr>
        </p:cxnSp>
        <p:cxnSp>
          <p:nvCxnSpPr>
            <p:cNvPr id="168" name="Straight Connector 7"/>
            <p:cNvCxnSpPr/>
            <p:nvPr/>
          </p:nvCxnSpPr>
          <p:spPr>
            <a:xfrm flipV="1">
              <a:off x="4650840" y="2023920"/>
              <a:ext cx="1806480" cy="19800"/>
            </a:xfrm>
            <a:prstGeom prst="straightConnector1">
              <a:avLst/>
            </a:prstGeom>
            <a:ln w="57150">
              <a:solidFill>
                <a:srgbClr val="171717"/>
              </a:solidFill>
              <a:round/>
            </a:ln>
          </p:spPr>
        </p:cxnSp>
        <p:sp>
          <p:nvSpPr>
            <p:cNvPr id="169" name="Freeform: Shape 4"/>
            <p:cNvSpPr/>
            <p:nvPr/>
          </p:nvSpPr>
          <p:spPr>
            <a:xfrm>
              <a:off x="6321960" y="1495440"/>
              <a:ext cx="291600" cy="1070280"/>
            </a:xfrm>
            <a:custGeom>
              <a:avLst/>
              <a:gdLst>
                <a:gd name="textAreaLeft" fmla="*/ 0 w 291600"/>
                <a:gd name="textAreaRight" fmla="*/ 292320 w 291600"/>
                <a:gd name="textAreaTop" fmla="*/ 0 h 1070280"/>
                <a:gd name="textAreaBottom" fmla="*/ 1071000 h 1070280"/>
              </a:gdLst>
              <a:ahLst/>
              <a:rect l="textAreaLeft" t="textAreaTop" r="textAreaRight" b="textAreaBottom"/>
              <a:pathLst>
                <a:path w="292193" h="1071033">
                  <a:moveTo>
                    <a:pt x="292193" y="0"/>
                  </a:moveTo>
                  <a:lnTo>
                    <a:pt x="292193" y="1071033"/>
                  </a:lnTo>
                  <a:lnTo>
                    <a:pt x="281706" y="1065340"/>
                  </a:lnTo>
                  <a:cubicBezTo>
                    <a:pt x="111745" y="950517"/>
                    <a:pt x="0" y="756066"/>
                    <a:pt x="0" y="535516"/>
                  </a:cubicBezTo>
                  <a:cubicBezTo>
                    <a:pt x="0" y="314966"/>
                    <a:pt x="111745" y="120515"/>
                    <a:pt x="281706" y="5692"/>
                  </a:cubicBezTo>
                  <a:close/>
                </a:path>
              </a:pathLst>
            </a:custGeom>
            <a:solidFill>
              <a:srgbClr val="ffc000"/>
            </a:solidFill>
            <a:ln w="57150">
              <a:noFill/>
            </a:ln>
            <a:effectLst>
              <a:outerShdw algn="ctr" blurRad="63360" rotWithShape="0" sx="102000" sy="10200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170" name="Rectangle 3"/>
            <p:cNvSpPr/>
            <p:nvPr/>
          </p:nvSpPr>
          <p:spPr>
            <a:xfrm>
              <a:off x="6175080" y="1554120"/>
              <a:ext cx="183960" cy="92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en-US" sz="5400" spc="-1" strike="noStrike">
                <a:solidFill>
                  <a:srgbClr val="ff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71" name="Group 4"/>
          <p:cNvGrpSpPr/>
          <p:nvPr/>
        </p:nvGrpSpPr>
        <p:grpSpPr>
          <a:xfrm>
            <a:off x="4761360" y="3073680"/>
            <a:ext cx="1866960" cy="1070280"/>
            <a:chOff x="4761360" y="3073680"/>
            <a:chExt cx="1866960" cy="1070280"/>
          </a:xfrm>
        </p:grpSpPr>
        <p:cxnSp>
          <p:nvCxnSpPr>
            <p:cNvPr id="172" name="Straight Connector 8"/>
            <p:cNvCxnSpPr>
              <a:endCxn id="173" idx="3"/>
            </p:cNvCxnSpPr>
            <p:nvPr/>
          </p:nvCxnSpPr>
          <p:spPr>
            <a:xfrm flipV="1">
              <a:off x="4761360" y="3608640"/>
              <a:ext cx="1867320" cy="720"/>
            </a:xfrm>
            <a:prstGeom prst="straightConnector1">
              <a:avLst/>
            </a:prstGeom>
            <a:ln w="57150">
              <a:solidFill>
                <a:srgbClr val="171717"/>
              </a:solidFill>
              <a:round/>
            </a:ln>
          </p:spPr>
        </p:cxnSp>
        <p:sp>
          <p:nvSpPr>
            <p:cNvPr id="173" name="Freeform: Shape 5"/>
            <p:cNvSpPr/>
            <p:nvPr/>
          </p:nvSpPr>
          <p:spPr>
            <a:xfrm>
              <a:off x="6336720" y="3073680"/>
              <a:ext cx="291600" cy="1070280"/>
            </a:xfrm>
            <a:custGeom>
              <a:avLst/>
              <a:gdLst>
                <a:gd name="textAreaLeft" fmla="*/ 0 w 291600"/>
                <a:gd name="textAreaRight" fmla="*/ 292320 w 291600"/>
                <a:gd name="textAreaTop" fmla="*/ 0 h 1070280"/>
                <a:gd name="textAreaBottom" fmla="*/ 1071000 h 1070280"/>
              </a:gdLst>
              <a:ahLst/>
              <a:rect l="textAreaLeft" t="textAreaTop" r="textAreaRight" b="textAreaBottom"/>
              <a:pathLst>
                <a:path w="292193" h="1071033">
                  <a:moveTo>
                    <a:pt x="292193" y="0"/>
                  </a:moveTo>
                  <a:lnTo>
                    <a:pt x="292193" y="1071033"/>
                  </a:lnTo>
                  <a:lnTo>
                    <a:pt x="281706" y="1065340"/>
                  </a:lnTo>
                  <a:cubicBezTo>
                    <a:pt x="111745" y="950517"/>
                    <a:pt x="0" y="756066"/>
                    <a:pt x="0" y="535516"/>
                  </a:cubicBezTo>
                  <a:cubicBezTo>
                    <a:pt x="0" y="314966"/>
                    <a:pt x="111745" y="120515"/>
                    <a:pt x="281706" y="5692"/>
                  </a:cubicBezTo>
                  <a:close/>
                </a:path>
              </a:pathLst>
            </a:custGeom>
            <a:solidFill>
              <a:srgbClr val="00b0f0"/>
            </a:solidFill>
            <a:ln w="57150">
              <a:noFill/>
            </a:ln>
            <a:effectLst>
              <a:outerShdw algn="ctr" blurRad="63360" rotWithShape="0" sx="102000" sy="10200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cxnSp>
        <p:nvCxnSpPr>
          <p:cNvPr id="174" name="Straight Connector 9"/>
          <p:cNvCxnSpPr/>
          <p:nvPr/>
        </p:nvCxnSpPr>
        <p:spPr>
          <a:xfrm>
            <a:off x="4136040" y="4798080"/>
            <a:ext cx="531720" cy="454320"/>
          </a:xfrm>
          <a:prstGeom prst="straightConnector1">
            <a:avLst/>
          </a:prstGeom>
          <a:ln w="57150">
            <a:solidFill>
              <a:srgbClr val="171717"/>
            </a:solidFill>
            <a:round/>
          </a:ln>
        </p:spPr>
      </p:cxnSp>
      <p:cxnSp>
        <p:nvCxnSpPr>
          <p:cNvPr id="175" name="Straight Connector 10"/>
          <p:cNvCxnSpPr/>
          <p:nvPr/>
        </p:nvCxnSpPr>
        <p:spPr>
          <a:xfrm>
            <a:off x="4650120" y="5249160"/>
            <a:ext cx="1667160" cy="5040"/>
          </a:xfrm>
          <a:prstGeom prst="straightConnector1">
            <a:avLst/>
          </a:prstGeom>
          <a:ln w="57150">
            <a:solidFill>
              <a:srgbClr val="171717"/>
            </a:solidFill>
            <a:round/>
          </a:ln>
        </p:spPr>
      </p:cxnSp>
      <p:sp>
        <p:nvSpPr>
          <p:cNvPr id="176" name="Oval 3"/>
          <p:cNvSpPr/>
          <p:nvPr/>
        </p:nvSpPr>
        <p:spPr>
          <a:xfrm>
            <a:off x="797040" y="1701720"/>
            <a:ext cx="4111200" cy="39733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04f15"/>
            </a:solidFill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77" name="Oval 4"/>
          <p:cNvSpPr/>
          <p:nvPr/>
        </p:nvSpPr>
        <p:spPr>
          <a:xfrm>
            <a:off x="982440" y="1880640"/>
            <a:ext cx="3767400" cy="36306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6c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develop an AI powered symptom checker that helps individuals communicate their symptoms, receive disease predictions, and get guidance on appropriate action to take.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Freeform: Shape 6"/>
          <p:cNvSpPr/>
          <p:nvPr/>
        </p:nvSpPr>
        <p:spPr>
          <a:xfrm>
            <a:off x="6316920" y="4707360"/>
            <a:ext cx="291600" cy="1070280"/>
          </a:xfrm>
          <a:custGeom>
            <a:avLst/>
            <a:gdLst>
              <a:gd name="textAreaLeft" fmla="*/ 0 w 291600"/>
              <a:gd name="textAreaRight" fmla="*/ 292320 w 291600"/>
              <a:gd name="textAreaTop" fmla="*/ 0 h 1070280"/>
              <a:gd name="textAreaBottom" fmla="*/ 1071000 h 1070280"/>
            </a:gdLst>
            <a:ahLst/>
            <a:rect l="textAreaLeft" t="textAreaTop" r="textAreaRight" b="textAreaBottom"/>
            <a:pathLst>
              <a:path w="292193" h="1071033">
                <a:moveTo>
                  <a:pt x="292193" y="0"/>
                </a:moveTo>
                <a:lnTo>
                  <a:pt x="292193" y="1071033"/>
                </a:lnTo>
                <a:lnTo>
                  <a:pt x="281706" y="1065340"/>
                </a:lnTo>
                <a:cubicBezTo>
                  <a:pt x="111745" y="950517"/>
                  <a:pt x="0" y="756066"/>
                  <a:pt x="0" y="535516"/>
                </a:cubicBezTo>
                <a:cubicBezTo>
                  <a:pt x="0" y="314966"/>
                  <a:pt x="111745" y="120515"/>
                  <a:pt x="281706" y="5692"/>
                </a:cubicBezTo>
                <a:close/>
              </a:path>
            </a:pathLst>
          </a:custGeom>
          <a:solidFill>
            <a:srgbClr val="00b050"/>
          </a:solidFill>
          <a:ln w="5715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79" name="TextBox 174"/>
          <p:cNvSpPr/>
          <p:nvPr/>
        </p:nvSpPr>
        <p:spPr>
          <a:xfrm>
            <a:off x="11167560" y="5862240"/>
            <a:ext cx="38224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37F44F6B-00CB-421F-9438-9634286DFCA7}" type="slidenum">
              <a:rPr b="0" lang="en-GB" sz="1400" spc="-1" strike="noStrike">
                <a:solidFill>
                  <a:schemeClr val="dk1"/>
                </a:solidFill>
                <a:latin typeface="Arial"/>
                <a:ea typeface="DejaVu Sans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2"/>
          <p:cNvSpPr/>
          <p:nvPr/>
        </p:nvSpPr>
        <p:spPr>
          <a:xfrm>
            <a:off x="856800" y="698400"/>
            <a:ext cx="1007388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Model Development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B617DB3C-3DAB-4858-A66F-FF2EC354E9F8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Picture 1" descr=""/>
          <p:cNvPicPr/>
          <p:nvPr/>
        </p:nvPicPr>
        <p:blipFill>
          <a:blip r:embed="rId1"/>
          <a:srcRect l="4777" t="15894" r="4230" b="39145"/>
          <a:stretch/>
        </p:blipFill>
        <p:spPr>
          <a:xfrm>
            <a:off x="900000" y="1440000"/>
            <a:ext cx="10259280" cy="44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2"/>
          <p:cNvSpPr/>
          <p:nvPr/>
        </p:nvSpPr>
        <p:spPr>
          <a:xfrm>
            <a:off x="856800" y="698400"/>
            <a:ext cx="1007388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Kanit"/>
                <a:ea typeface="Tahoma"/>
              </a:rPr>
              <a:t>Dataset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4" name="Table 4"/>
          <p:cNvGraphicFramePr/>
          <p:nvPr/>
        </p:nvGraphicFramePr>
        <p:xfrm>
          <a:off x="639000" y="1276200"/>
          <a:ext cx="5456520" cy="4305240"/>
        </p:xfrm>
        <a:graphic>
          <a:graphicData uri="http://schemas.openxmlformats.org/drawingml/2006/table">
            <a:tbl>
              <a:tblPr/>
              <a:tblGrid>
                <a:gridCol w="5456880"/>
              </a:tblGrid>
              <a:tr h="4305240">
                <a:tc>
                  <a:txBody>
                    <a:bodyPr anchor="ctr">
                      <a:noAutofit/>
                    </a:bodyPr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Data obtained from Kaggle and verified medical information.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 dataset contains symptom-disease relationships of 23 target diseases.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Symptoms encoded as binary values, 1 for Yes and 0 for No.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It is structured dataset suitable for machine learning.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5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3359D196-D306-46E7-965D-565E5678C569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Picture 2" descr=""/>
          <p:cNvPicPr/>
          <p:nvPr/>
        </p:nvPicPr>
        <p:blipFill>
          <a:blip r:embed="rId1"/>
          <a:srcRect l="0" t="0" r="1755" b="0"/>
          <a:stretch/>
        </p:blipFill>
        <p:spPr>
          <a:xfrm>
            <a:off x="6095880" y="1276200"/>
            <a:ext cx="5377680" cy="85644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6" descr=""/>
          <p:cNvPicPr/>
          <p:nvPr/>
        </p:nvPicPr>
        <p:blipFill>
          <a:blip r:embed="rId2"/>
          <a:stretch/>
        </p:blipFill>
        <p:spPr>
          <a:xfrm>
            <a:off x="6095160" y="2133720"/>
            <a:ext cx="5378400" cy="344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0"/>
          <p:cNvSpPr/>
          <p:nvPr/>
        </p:nvSpPr>
        <p:spPr>
          <a:xfrm>
            <a:off x="792000" y="675000"/>
            <a:ext cx="10187640" cy="53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Kanit"/>
                <a:ea typeface="Tahoma"/>
              </a:rPr>
              <a:t>The 23 Diseases and Their Risk Classification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CF7C859E-8748-4339-91D5-80B949018FDC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185" descr=""/>
          <p:cNvPicPr/>
          <p:nvPr/>
        </p:nvPicPr>
        <p:blipFill>
          <a:blip r:embed="rId1"/>
          <a:stretch/>
        </p:blipFill>
        <p:spPr>
          <a:xfrm>
            <a:off x="1051560" y="1209600"/>
            <a:ext cx="10191240" cy="491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3"/>
          <p:cNvSpPr/>
          <p:nvPr/>
        </p:nvSpPr>
        <p:spPr>
          <a:xfrm>
            <a:off x="811080" y="713520"/>
            <a:ext cx="96102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ML Model – Decision Tree (CART)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: Rounded Corners 2"/>
          <p:cNvSpPr/>
          <p:nvPr/>
        </p:nvSpPr>
        <p:spPr>
          <a:xfrm>
            <a:off x="4267440" y="1247760"/>
            <a:ext cx="365616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ROOT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: Rounded Corners 3"/>
          <p:cNvSpPr/>
          <p:nvPr/>
        </p:nvSpPr>
        <p:spPr>
          <a:xfrm>
            <a:off x="1037880" y="2937600"/>
            <a:ext cx="365616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Internal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: Rounded Corners 4"/>
          <p:cNvSpPr/>
          <p:nvPr/>
        </p:nvSpPr>
        <p:spPr>
          <a:xfrm>
            <a:off x="7348680" y="2921400"/>
            <a:ext cx="365616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Internal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ectangle: Rounded Corners 5"/>
          <p:cNvSpPr/>
          <p:nvPr/>
        </p:nvSpPr>
        <p:spPr>
          <a:xfrm>
            <a:off x="1037880" y="3894480"/>
            <a:ext cx="149112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Leaf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6" name="Straight Arrow Connector 11"/>
          <p:cNvCxnSpPr/>
          <p:nvPr/>
        </p:nvCxnSpPr>
        <p:spPr>
          <a:xfrm>
            <a:off x="6095880" y="1769400"/>
            <a:ext cx="1080" cy="108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197" name="Straight Arrow Connector 30"/>
          <p:cNvCxnSpPr/>
          <p:nvPr/>
        </p:nvCxnSpPr>
        <p:spPr>
          <a:xfrm>
            <a:off x="1783800" y="3455280"/>
            <a:ext cx="1440" cy="42336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98" name="Straight Arrow Connector 32"/>
          <p:cNvCxnSpPr/>
          <p:nvPr/>
        </p:nvCxnSpPr>
        <p:spPr>
          <a:xfrm flipH="1">
            <a:off x="3947760" y="3455640"/>
            <a:ext cx="1800" cy="43956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199" name="Straight Arrow Connector 38"/>
          <p:cNvCxnSpPr/>
          <p:nvPr/>
        </p:nvCxnSpPr>
        <p:spPr>
          <a:xfrm>
            <a:off x="8091720" y="3455640"/>
            <a:ext cx="1080" cy="43956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00" name="Straight Arrow Connector 41"/>
          <p:cNvCxnSpPr/>
          <p:nvPr/>
        </p:nvCxnSpPr>
        <p:spPr>
          <a:xfrm>
            <a:off x="10256760" y="3455640"/>
            <a:ext cx="1440" cy="4399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sp>
        <p:nvSpPr>
          <p:cNvPr id="201" name="TextBox 49"/>
          <p:cNvSpPr/>
          <p:nvPr/>
        </p:nvSpPr>
        <p:spPr>
          <a:xfrm>
            <a:off x="2840040" y="2333160"/>
            <a:ext cx="47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DejaVu Sans"/>
              </a:rPr>
              <a:t>Yes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50"/>
          <p:cNvSpPr/>
          <p:nvPr/>
        </p:nvSpPr>
        <p:spPr>
          <a:xfrm>
            <a:off x="8756280" y="2333160"/>
            <a:ext cx="408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DejaVu Sans"/>
              </a:rPr>
              <a:t>No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51"/>
          <p:cNvSpPr/>
          <p:nvPr/>
        </p:nvSpPr>
        <p:spPr>
          <a:xfrm>
            <a:off x="1073880" y="3523320"/>
            <a:ext cx="47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DejaVu Sans"/>
              </a:rPr>
              <a:t>Yes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52"/>
          <p:cNvSpPr/>
          <p:nvPr/>
        </p:nvSpPr>
        <p:spPr>
          <a:xfrm>
            <a:off x="7356240" y="3515400"/>
            <a:ext cx="47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DejaVu Sans"/>
              </a:rPr>
              <a:t>Yes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53"/>
          <p:cNvSpPr/>
          <p:nvPr/>
        </p:nvSpPr>
        <p:spPr>
          <a:xfrm>
            <a:off x="4203720" y="3523320"/>
            <a:ext cx="408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DejaVu Sans"/>
              </a:rPr>
              <a:t>No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54"/>
          <p:cNvSpPr/>
          <p:nvPr/>
        </p:nvSpPr>
        <p:spPr>
          <a:xfrm>
            <a:off x="10536840" y="3523680"/>
            <a:ext cx="478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DejaVu Sans"/>
              </a:rPr>
              <a:t>No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: Rounded Corners 5"/>
          <p:cNvSpPr/>
          <p:nvPr/>
        </p:nvSpPr>
        <p:spPr>
          <a:xfrm>
            <a:off x="9513720" y="3905280"/>
            <a:ext cx="149112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Leaf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ectangle: Rounded Corners 5"/>
          <p:cNvSpPr/>
          <p:nvPr/>
        </p:nvSpPr>
        <p:spPr>
          <a:xfrm>
            <a:off x="7348680" y="3885840"/>
            <a:ext cx="149112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Leaf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: Rounded Corners 5"/>
          <p:cNvSpPr/>
          <p:nvPr/>
        </p:nvSpPr>
        <p:spPr>
          <a:xfrm>
            <a:off x="3202920" y="3905280"/>
            <a:ext cx="1491120" cy="5335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Leaf Node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0" name="Connector: Elbow 15"/>
          <p:cNvCxnSpPr>
            <a:stCxn id="193" idx="0"/>
            <a:endCxn id="194" idx="0"/>
          </p:cNvCxnSpPr>
          <p:nvPr/>
        </p:nvCxnSpPr>
        <p:spPr>
          <a:xfrm flipV="1">
            <a:off x="2865600" y="2921040"/>
            <a:ext cx="6311520" cy="16920"/>
          </a:xfrm>
          <a:prstGeom prst="bentConnector2">
            <a:avLst/>
          </a:prstGeom>
          <a:ln w="0">
            <a:solidFill>
              <a:srgbClr val="181717"/>
            </a:solidFill>
            <a:headEnd len="med" type="triangle" w="med"/>
            <a:tailEnd len="med" type="triangle" w="med"/>
          </a:ln>
        </p:spPr>
      </p:cxnSp>
      <p:cxnSp>
        <p:nvCxnSpPr>
          <p:cNvPr id="211" name="Straight Connector 20"/>
          <p:cNvCxnSpPr>
            <a:stCxn id="192" idx="2"/>
          </p:cNvCxnSpPr>
          <p:nvPr/>
        </p:nvCxnSpPr>
        <p:spPr>
          <a:xfrm>
            <a:off x="6095520" y="1781640"/>
            <a:ext cx="1080" cy="910080"/>
          </a:xfrm>
          <a:prstGeom prst="straightConnector1">
            <a:avLst/>
          </a:prstGeom>
          <a:ln w="0">
            <a:solidFill>
              <a:srgbClr val="181717"/>
            </a:solidFill>
          </a:ln>
        </p:spPr>
      </p:cxnSp>
      <p:graphicFrame>
        <p:nvGraphicFramePr>
          <p:cNvPr id="212" name="Table 25"/>
          <p:cNvGraphicFramePr/>
          <p:nvPr/>
        </p:nvGraphicFramePr>
        <p:xfrm>
          <a:off x="1037880" y="4959720"/>
          <a:ext cx="9977400" cy="701640"/>
        </p:xfrm>
        <a:graphic>
          <a:graphicData uri="http://schemas.openxmlformats.org/drawingml/2006/table">
            <a:tbl>
              <a:tblPr/>
              <a:tblGrid>
                <a:gridCol w="99777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Advantages: Easy to understand, handles complex relationships effectively and it can be easily explained to users.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3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0E570F57-7B3D-42D5-B2A6-FE9DBEFDC767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6"/>
          <p:cNvSpPr/>
          <p:nvPr/>
        </p:nvSpPr>
        <p:spPr>
          <a:xfrm>
            <a:off x="811080" y="713520"/>
            <a:ext cx="521352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ML Model – Naïve Bayes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Isosceles Triangle 1"/>
          <p:cNvSpPr/>
          <p:nvPr/>
        </p:nvSpPr>
        <p:spPr>
          <a:xfrm>
            <a:off x="2273040" y="3050280"/>
            <a:ext cx="991440" cy="748440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16" name="Isosceles Triangle 2"/>
          <p:cNvSpPr/>
          <p:nvPr/>
        </p:nvSpPr>
        <p:spPr>
          <a:xfrm>
            <a:off x="1034280" y="3096000"/>
            <a:ext cx="991440" cy="748440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17" name="Isosceles Triangle 3"/>
          <p:cNvSpPr/>
          <p:nvPr/>
        </p:nvSpPr>
        <p:spPr>
          <a:xfrm>
            <a:off x="1355400" y="2340720"/>
            <a:ext cx="991440" cy="748440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18" name="Rectangle 4"/>
          <p:cNvSpPr/>
          <p:nvPr/>
        </p:nvSpPr>
        <p:spPr>
          <a:xfrm>
            <a:off x="1608480" y="1783800"/>
            <a:ext cx="738720" cy="73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19" name="Rectangle 5"/>
          <p:cNvSpPr/>
          <p:nvPr/>
        </p:nvSpPr>
        <p:spPr>
          <a:xfrm>
            <a:off x="2174040" y="2679840"/>
            <a:ext cx="738720" cy="73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20" name="Rectangle 6"/>
          <p:cNvSpPr/>
          <p:nvPr/>
        </p:nvSpPr>
        <p:spPr>
          <a:xfrm>
            <a:off x="2668680" y="1900440"/>
            <a:ext cx="738720" cy="73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21" name="Oval 7"/>
          <p:cNvSpPr/>
          <p:nvPr/>
        </p:nvSpPr>
        <p:spPr>
          <a:xfrm>
            <a:off x="998640" y="2640960"/>
            <a:ext cx="810000" cy="74844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22" name="Oval 8"/>
          <p:cNvSpPr/>
          <p:nvPr/>
        </p:nvSpPr>
        <p:spPr>
          <a:xfrm>
            <a:off x="1751040" y="3315960"/>
            <a:ext cx="810000" cy="74844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23" name="Oval 9"/>
          <p:cNvSpPr/>
          <p:nvPr/>
        </p:nvSpPr>
        <p:spPr>
          <a:xfrm>
            <a:off x="2195280" y="2167560"/>
            <a:ext cx="810000" cy="74844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24" name="Rectangle: Rounded Corners 10"/>
          <p:cNvSpPr/>
          <p:nvPr/>
        </p:nvSpPr>
        <p:spPr>
          <a:xfrm>
            <a:off x="4502880" y="2487600"/>
            <a:ext cx="3044160" cy="9136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graphicFrame>
        <p:nvGraphicFramePr>
          <p:cNvPr id="225" name="Table 11"/>
          <p:cNvGraphicFramePr/>
          <p:nvPr/>
        </p:nvGraphicFramePr>
        <p:xfrm>
          <a:off x="4410360" y="2759400"/>
          <a:ext cx="1357560" cy="370800"/>
        </p:xfrm>
        <a:graphic>
          <a:graphicData uri="http://schemas.openxmlformats.org/drawingml/2006/table">
            <a:tbl>
              <a:tblPr/>
              <a:tblGrid>
                <a:gridCol w="13579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P(A│B) = 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6" name="Table 12"/>
          <p:cNvGraphicFramePr/>
          <p:nvPr/>
        </p:nvGraphicFramePr>
        <p:xfrm>
          <a:off x="5768640" y="2524320"/>
          <a:ext cx="1820160" cy="370800"/>
        </p:xfrm>
        <a:graphic>
          <a:graphicData uri="http://schemas.openxmlformats.org/drawingml/2006/table">
            <a:tbl>
              <a:tblPr/>
              <a:tblGrid>
                <a:gridCol w="18205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P(B│A) . P(A)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7" name="Straight Connector 14"/>
          <p:cNvCxnSpPr/>
          <p:nvPr/>
        </p:nvCxnSpPr>
        <p:spPr>
          <a:xfrm>
            <a:off x="5904360" y="2949120"/>
            <a:ext cx="1643760" cy="720"/>
          </a:xfrm>
          <a:prstGeom prst="straightConnector1">
            <a:avLst/>
          </a:prstGeom>
          <a:ln w="38100">
            <a:solidFill>
              <a:srgbClr val="181717"/>
            </a:solidFill>
            <a:round/>
          </a:ln>
        </p:spPr>
      </p:cxnSp>
      <p:graphicFrame>
        <p:nvGraphicFramePr>
          <p:cNvPr id="228" name="Table 17"/>
          <p:cNvGraphicFramePr/>
          <p:nvPr/>
        </p:nvGraphicFramePr>
        <p:xfrm>
          <a:off x="6252840" y="2992320"/>
          <a:ext cx="810000" cy="370800"/>
        </p:xfrm>
        <a:graphic>
          <a:graphicData uri="http://schemas.openxmlformats.org/drawingml/2006/table">
            <a:tbl>
              <a:tblPr/>
              <a:tblGrid>
                <a:gridCol w="8103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P(B)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9" name="Rectangle 30"/>
          <p:cNvSpPr/>
          <p:nvPr/>
        </p:nvSpPr>
        <p:spPr>
          <a:xfrm>
            <a:off x="9421560" y="1600200"/>
            <a:ext cx="738720" cy="73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0" name="Rectangle 32"/>
          <p:cNvSpPr/>
          <p:nvPr/>
        </p:nvSpPr>
        <p:spPr>
          <a:xfrm>
            <a:off x="9941760" y="1608120"/>
            <a:ext cx="738720" cy="73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1" name="Oval 33"/>
          <p:cNvSpPr/>
          <p:nvPr/>
        </p:nvSpPr>
        <p:spPr>
          <a:xfrm>
            <a:off x="10259640" y="2600280"/>
            <a:ext cx="810000" cy="74844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2" name="Oval 34"/>
          <p:cNvSpPr/>
          <p:nvPr/>
        </p:nvSpPr>
        <p:spPr>
          <a:xfrm>
            <a:off x="9898560" y="2590560"/>
            <a:ext cx="810000" cy="74844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3" name="Oval 35"/>
          <p:cNvSpPr/>
          <p:nvPr/>
        </p:nvSpPr>
        <p:spPr>
          <a:xfrm>
            <a:off x="9573840" y="2590560"/>
            <a:ext cx="810000" cy="74844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4" name="Isosceles Triangle 37"/>
          <p:cNvSpPr/>
          <p:nvPr/>
        </p:nvSpPr>
        <p:spPr>
          <a:xfrm>
            <a:off x="10161000" y="3613320"/>
            <a:ext cx="991440" cy="748440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5" name="Isosceles Triangle 38"/>
          <p:cNvSpPr/>
          <p:nvPr/>
        </p:nvSpPr>
        <p:spPr>
          <a:xfrm>
            <a:off x="9815040" y="3613320"/>
            <a:ext cx="991440" cy="748440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6" name="Isosceles Triangle 39"/>
          <p:cNvSpPr/>
          <p:nvPr/>
        </p:nvSpPr>
        <p:spPr>
          <a:xfrm>
            <a:off x="9402480" y="3613320"/>
            <a:ext cx="991440" cy="748440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237" name="Straight Arrow Connector 41"/>
          <p:cNvCxnSpPr/>
          <p:nvPr/>
        </p:nvCxnSpPr>
        <p:spPr>
          <a:xfrm>
            <a:off x="3496320" y="2944440"/>
            <a:ext cx="914760" cy="720"/>
          </a:xfrm>
          <a:prstGeom prst="straightConnector1">
            <a:avLst/>
          </a:prstGeom>
          <a:ln w="76200">
            <a:solidFill>
              <a:srgbClr val="3b3838"/>
            </a:solidFill>
            <a:round/>
            <a:tailEnd len="med" type="triangle" w="med"/>
          </a:ln>
        </p:spPr>
      </p:cxnSp>
      <p:cxnSp>
        <p:nvCxnSpPr>
          <p:cNvPr id="238" name="Straight Arrow Connector 45"/>
          <p:cNvCxnSpPr/>
          <p:nvPr/>
        </p:nvCxnSpPr>
        <p:spPr>
          <a:xfrm flipV="1">
            <a:off x="7704000" y="1895760"/>
            <a:ext cx="1611000" cy="629280"/>
          </a:xfrm>
          <a:prstGeom prst="straightConnector1">
            <a:avLst/>
          </a:prstGeom>
          <a:ln w="76200">
            <a:solidFill>
              <a:srgbClr val="3b3838"/>
            </a:solidFill>
            <a:round/>
            <a:tailEnd len="med" type="triangle" w="med"/>
          </a:ln>
        </p:spPr>
      </p:cxnSp>
      <p:cxnSp>
        <p:nvCxnSpPr>
          <p:cNvPr id="239" name="Straight Arrow Connector 47"/>
          <p:cNvCxnSpPr/>
          <p:nvPr/>
        </p:nvCxnSpPr>
        <p:spPr>
          <a:xfrm>
            <a:off x="7704000" y="2894400"/>
            <a:ext cx="1734480" cy="720"/>
          </a:xfrm>
          <a:prstGeom prst="straightConnector1">
            <a:avLst/>
          </a:prstGeom>
          <a:ln w="76200">
            <a:solidFill>
              <a:srgbClr val="3b3838"/>
            </a:solidFill>
            <a:round/>
            <a:tailEnd len="med" type="triangle" w="med"/>
          </a:ln>
        </p:spPr>
      </p:cxnSp>
      <p:cxnSp>
        <p:nvCxnSpPr>
          <p:cNvPr id="240" name="Straight Arrow Connector 48"/>
          <p:cNvCxnSpPr/>
          <p:nvPr/>
        </p:nvCxnSpPr>
        <p:spPr>
          <a:xfrm>
            <a:off x="7704000" y="3264120"/>
            <a:ext cx="1572480" cy="597600"/>
          </a:xfrm>
          <a:prstGeom prst="straightConnector1">
            <a:avLst/>
          </a:prstGeom>
          <a:ln w="76200">
            <a:solidFill>
              <a:srgbClr val="3b3838"/>
            </a:solidFill>
            <a:round/>
            <a:tailEnd len="med" type="triangle" w="med"/>
          </a:ln>
        </p:spPr>
      </p:cxnSp>
      <p:sp>
        <p:nvSpPr>
          <p:cNvPr id="241" name="Rectangle 31"/>
          <p:cNvSpPr/>
          <p:nvPr/>
        </p:nvSpPr>
        <p:spPr>
          <a:xfrm>
            <a:off x="10418400" y="1605240"/>
            <a:ext cx="738720" cy="73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graphicFrame>
        <p:nvGraphicFramePr>
          <p:cNvPr id="242" name="Table 55"/>
          <p:cNvGraphicFramePr/>
          <p:nvPr/>
        </p:nvGraphicFramePr>
        <p:xfrm>
          <a:off x="1037880" y="4959720"/>
          <a:ext cx="9977400" cy="658440"/>
        </p:xfrm>
        <a:graphic>
          <a:graphicData uri="http://schemas.openxmlformats.org/drawingml/2006/table">
            <a:tbl>
              <a:tblPr/>
              <a:tblGrid>
                <a:gridCol w="99777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Advantages: Easy to implement, effective in cases with a large number of features and parameters are easier to estimate.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3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307755CD-7880-4F58-BB0D-D5B36AD86D39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5" descr=""/>
          <p:cNvPicPr/>
          <p:nvPr/>
        </p:nvPicPr>
        <p:blipFill>
          <a:blip r:embed="rId1"/>
          <a:stretch/>
        </p:blipFill>
        <p:spPr>
          <a:xfrm>
            <a:off x="1199880" y="3870360"/>
            <a:ext cx="913680" cy="913680"/>
          </a:xfrm>
          <a:prstGeom prst="rect">
            <a:avLst/>
          </a:prstGeom>
          <a:ln w="0">
            <a:noFill/>
          </a:ln>
        </p:spPr>
      </p:pic>
      <p:sp>
        <p:nvSpPr>
          <p:cNvPr id="245" name="PlaceHolder 14"/>
          <p:cNvSpPr/>
          <p:nvPr/>
        </p:nvSpPr>
        <p:spPr>
          <a:xfrm>
            <a:off x="811080" y="713520"/>
            <a:ext cx="521352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System Flow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Picture 9" descr=""/>
          <p:cNvPicPr/>
          <p:nvPr/>
        </p:nvPicPr>
        <p:blipFill>
          <a:blip r:embed="rId2"/>
          <a:stretch/>
        </p:blipFill>
        <p:spPr>
          <a:xfrm>
            <a:off x="9623160" y="1678320"/>
            <a:ext cx="913680" cy="913680"/>
          </a:xfrm>
          <a:prstGeom prst="rect">
            <a:avLst/>
          </a:prstGeom>
          <a:ln w="0">
            <a:noFill/>
          </a:ln>
        </p:spPr>
      </p:pic>
      <p:pic>
        <p:nvPicPr>
          <p:cNvPr id="247" name="Picture 11" descr=""/>
          <p:cNvPicPr/>
          <p:nvPr/>
        </p:nvPicPr>
        <p:blipFill>
          <a:blip r:embed="rId3"/>
          <a:stretch/>
        </p:blipFill>
        <p:spPr>
          <a:xfrm>
            <a:off x="3580560" y="3870360"/>
            <a:ext cx="913680" cy="913680"/>
          </a:xfrm>
          <a:prstGeom prst="rect">
            <a:avLst/>
          </a:prstGeom>
          <a:ln w="0">
            <a:noFill/>
          </a:ln>
        </p:spPr>
      </p:pic>
      <p:pic>
        <p:nvPicPr>
          <p:cNvPr id="248" name="Picture 5" descr=""/>
          <p:cNvPicPr/>
          <p:nvPr/>
        </p:nvPicPr>
        <p:blipFill>
          <a:blip r:embed="rId4"/>
          <a:stretch/>
        </p:blipFill>
        <p:spPr>
          <a:xfrm flipH="1">
            <a:off x="1076760" y="1678320"/>
            <a:ext cx="911880" cy="913680"/>
          </a:xfrm>
          <a:prstGeom prst="rect">
            <a:avLst/>
          </a:prstGeom>
          <a:ln w="0">
            <a:noFill/>
          </a:ln>
        </p:spPr>
      </p:pic>
      <p:pic>
        <p:nvPicPr>
          <p:cNvPr id="249" name="Picture 7" descr=""/>
          <p:cNvPicPr/>
          <p:nvPr/>
        </p:nvPicPr>
        <p:blipFill>
          <a:blip r:embed="rId5"/>
          <a:stretch/>
        </p:blipFill>
        <p:spPr>
          <a:xfrm>
            <a:off x="3580560" y="1593360"/>
            <a:ext cx="913680" cy="913680"/>
          </a:xfrm>
          <a:prstGeom prst="rect">
            <a:avLst/>
          </a:prstGeom>
          <a:ln w="0">
            <a:noFill/>
          </a:ln>
        </p:spPr>
      </p:pic>
      <p:pic>
        <p:nvPicPr>
          <p:cNvPr id="250" name="Picture 9" descr=""/>
          <p:cNvPicPr/>
          <p:nvPr/>
        </p:nvPicPr>
        <p:blipFill>
          <a:blip r:embed="rId6"/>
          <a:stretch/>
        </p:blipFill>
        <p:spPr>
          <a:xfrm>
            <a:off x="3752280" y="1890720"/>
            <a:ext cx="570240" cy="456480"/>
          </a:xfrm>
          <a:prstGeom prst="rect">
            <a:avLst/>
          </a:prstGeom>
          <a:ln w="0">
            <a:noFill/>
          </a:ln>
        </p:spPr>
      </p:pic>
      <p:pic>
        <p:nvPicPr>
          <p:cNvPr id="251" name="Picture 11" descr=""/>
          <p:cNvPicPr/>
          <p:nvPr/>
        </p:nvPicPr>
        <p:blipFill>
          <a:blip r:embed="rId7"/>
          <a:stretch/>
        </p:blipFill>
        <p:spPr>
          <a:xfrm flipH="1">
            <a:off x="6456600" y="1593360"/>
            <a:ext cx="913680" cy="913680"/>
          </a:xfrm>
          <a:prstGeom prst="rect">
            <a:avLst/>
          </a:prstGeom>
          <a:ln w="0">
            <a:noFill/>
          </a:ln>
        </p:spPr>
      </p:pic>
      <p:pic>
        <p:nvPicPr>
          <p:cNvPr id="252" name="Picture 13" descr=""/>
          <p:cNvPicPr/>
          <p:nvPr/>
        </p:nvPicPr>
        <p:blipFill>
          <a:blip r:embed="rId8"/>
          <a:stretch/>
        </p:blipFill>
        <p:spPr>
          <a:xfrm>
            <a:off x="9661320" y="3936960"/>
            <a:ext cx="913680" cy="913680"/>
          </a:xfrm>
          <a:prstGeom prst="rect">
            <a:avLst/>
          </a:prstGeom>
          <a:ln w="0">
            <a:noFill/>
          </a:ln>
        </p:spPr>
      </p:pic>
      <p:pic>
        <p:nvPicPr>
          <p:cNvPr id="253" name="Picture 15" descr=""/>
          <p:cNvPicPr/>
          <p:nvPr/>
        </p:nvPicPr>
        <p:blipFill>
          <a:blip r:embed="rId9"/>
          <a:stretch/>
        </p:blipFill>
        <p:spPr>
          <a:xfrm>
            <a:off x="6455880" y="3861720"/>
            <a:ext cx="913680" cy="913680"/>
          </a:xfrm>
          <a:prstGeom prst="rect">
            <a:avLst/>
          </a:prstGeom>
          <a:ln w="0">
            <a:noFill/>
          </a:ln>
        </p:spPr>
      </p:pic>
      <p:sp>
        <p:nvSpPr>
          <p:cNvPr id="254" name="TextBox 18"/>
          <p:cNvSpPr/>
          <p:nvPr/>
        </p:nvSpPr>
        <p:spPr>
          <a:xfrm>
            <a:off x="702000" y="2618640"/>
            <a:ext cx="1659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User opens app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9"/>
          <p:cNvSpPr/>
          <p:nvPr/>
        </p:nvSpPr>
        <p:spPr>
          <a:xfrm>
            <a:off x="2786760" y="2610720"/>
            <a:ext cx="2500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System asks symptom questions (Yes/No)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20"/>
          <p:cNvSpPr/>
          <p:nvPr/>
        </p:nvSpPr>
        <p:spPr>
          <a:xfrm>
            <a:off x="5718960" y="2618640"/>
            <a:ext cx="2500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User provides responses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23"/>
          <p:cNvSpPr/>
          <p:nvPr/>
        </p:nvSpPr>
        <p:spPr>
          <a:xfrm>
            <a:off x="8790120" y="2592720"/>
            <a:ext cx="2785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Encode User Responses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(Yes/No → Binary)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24"/>
          <p:cNvSpPr/>
          <p:nvPr/>
        </p:nvSpPr>
        <p:spPr>
          <a:xfrm>
            <a:off x="8993160" y="4952160"/>
            <a:ext cx="2378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Decision Tree selects next relevant question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25"/>
          <p:cNvSpPr/>
          <p:nvPr/>
        </p:nvSpPr>
        <p:spPr>
          <a:xfrm>
            <a:off x="5769720" y="4795200"/>
            <a:ext cx="2500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Naïve Bayes model calculates probability score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26"/>
          <p:cNvSpPr/>
          <p:nvPr/>
        </p:nvSpPr>
        <p:spPr>
          <a:xfrm>
            <a:off x="2878920" y="4864680"/>
            <a:ext cx="237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Classify risk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7"/>
          <p:cNvSpPr/>
          <p:nvPr/>
        </p:nvSpPr>
        <p:spPr>
          <a:xfrm>
            <a:off x="793080" y="4795200"/>
            <a:ext cx="1659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Display results and advice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7C4BB248-5EBE-4D1D-ADB0-43D2015B94E5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3" name="Straight Arrow Connector 30"/>
          <p:cNvCxnSpPr/>
          <p:nvPr/>
        </p:nvCxnSpPr>
        <p:spPr>
          <a:xfrm>
            <a:off x="2356920" y="2050560"/>
            <a:ext cx="802080" cy="7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64" name="Straight Arrow Connector 44"/>
          <p:cNvCxnSpPr/>
          <p:nvPr/>
        </p:nvCxnSpPr>
        <p:spPr>
          <a:xfrm>
            <a:off x="5037480" y="2037240"/>
            <a:ext cx="802080" cy="7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65" name="Straight Arrow Connector 45"/>
          <p:cNvCxnSpPr/>
          <p:nvPr/>
        </p:nvCxnSpPr>
        <p:spPr>
          <a:xfrm>
            <a:off x="8112240" y="2039760"/>
            <a:ext cx="802080" cy="7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66" name="Straight Arrow Connector 46"/>
          <p:cNvCxnSpPr/>
          <p:nvPr/>
        </p:nvCxnSpPr>
        <p:spPr>
          <a:xfrm>
            <a:off x="10104120" y="3303360"/>
            <a:ext cx="720" cy="46044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67" name="Straight Arrow Connector 50"/>
          <p:cNvCxnSpPr/>
          <p:nvPr/>
        </p:nvCxnSpPr>
        <p:spPr>
          <a:xfrm flipH="1">
            <a:off x="5043600" y="4290120"/>
            <a:ext cx="795960" cy="7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68" name="Straight Arrow Connector 51"/>
          <p:cNvCxnSpPr/>
          <p:nvPr/>
        </p:nvCxnSpPr>
        <p:spPr>
          <a:xfrm flipH="1">
            <a:off x="8091720" y="4394160"/>
            <a:ext cx="822600" cy="7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cxnSp>
        <p:nvCxnSpPr>
          <p:cNvPr id="269" name="Straight Arrow Connector 55"/>
          <p:cNvCxnSpPr/>
          <p:nvPr/>
        </p:nvCxnSpPr>
        <p:spPr>
          <a:xfrm flipH="1">
            <a:off x="2553120" y="4290120"/>
            <a:ext cx="741240" cy="720"/>
          </a:xfrm>
          <a:prstGeom prst="straightConnector1">
            <a:avLst/>
          </a:prstGeom>
          <a:ln w="0">
            <a:solidFill>
              <a:srgbClr val="181717"/>
            </a:solidFill>
            <a:tailEnd len="med" type="triangle" w="med"/>
          </a:ln>
        </p:spPr>
      </p:cxnSp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6AA928B-8807-45F9-8AEB-365793E0FA93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2"/>
          <p:cNvSpPr/>
          <p:nvPr/>
        </p:nvSpPr>
        <p:spPr>
          <a:xfrm>
            <a:off x="856080" y="698040"/>
            <a:ext cx="90993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Testing &amp; Evaluation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Picture 216" descr=""/>
          <p:cNvPicPr/>
          <p:nvPr/>
        </p:nvPicPr>
        <p:blipFill>
          <a:blip r:embed="rId1"/>
          <a:srcRect l="2003" t="18051" r="1752" b="15749"/>
          <a:stretch/>
        </p:blipFill>
        <p:spPr>
          <a:xfrm>
            <a:off x="966240" y="1238400"/>
            <a:ext cx="10258920" cy="4858920"/>
          </a:xfrm>
          <a:prstGeom prst="rect">
            <a:avLst/>
          </a:prstGeom>
          <a:ln w="0">
            <a:noFill/>
          </a:ln>
        </p:spPr>
      </p:pic>
      <p:sp>
        <p:nvSpPr>
          <p:cNvPr id="272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C5FC4894-88D4-4C40-8CD6-87721D66AE97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856080" y="697680"/>
            <a:ext cx="4776120" cy="5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Tools &amp; Technology</a:t>
            </a:r>
            <a:endParaRPr b="0" lang="en-US" sz="3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" name="Picture 4"/>
          <p:cNvSpPr/>
          <p:nvPr/>
        </p:nvSpPr>
        <p:spPr>
          <a:xfrm>
            <a:off x="7200000" y="1242000"/>
            <a:ext cx="1975680" cy="1453680"/>
          </a:xfrm>
          <a:prstGeom prst="roundRect">
            <a:avLst>
              <a:gd name="adj" fmla="val 8594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" name="Picture 6"/>
          <p:cNvSpPr/>
          <p:nvPr/>
        </p:nvSpPr>
        <p:spPr>
          <a:xfrm>
            <a:off x="2943720" y="3780000"/>
            <a:ext cx="1787040" cy="134856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6" name="Picture 8"/>
          <p:cNvSpPr/>
          <p:nvPr/>
        </p:nvSpPr>
        <p:spPr>
          <a:xfrm>
            <a:off x="7080840" y="3674520"/>
            <a:ext cx="2092680" cy="1364400"/>
          </a:xfrm>
          <a:prstGeom prst="roundRect">
            <a:avLst>
              <a:gd name="adj" fmla="val 8594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3086640" y="2597400"/>
            <a:ext cx="1766880" cy="8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8" name="TextBox 6"/>
          <p:cNvSpPr/>
          <p:nvPr/>
        </p:nvSpPr>
        <p:spPr>
          <a:xfrm>
            <a:off x="2414160" y="5243400"/>
            <a:ext cx="2901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Python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Backend Development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6978240" y="2788200"/>
            <a:ext cx="2408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Jupyter Notebook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Model Development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8"/>
          <p:cNvSpPr/>
          <p:nvPr/>
        </p:nvSpPr>
        <p:spPr>
          <a:xfrm>
            <a:off x="7080840" y="5220000"/>
            <a:ext cx="2092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Streamlit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Frontend (UI)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1"/>
          <p:cNvSpPr/>
          <p:nvPr/>
        </p:nvSpPr>
        <p:spPr>
          <a:xfrm>
            <a:off x="2580840" y="2722680"/>
            <a:ext cx="2632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SQLite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Database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Picture 157" descr=""/>
          <p:cNvPicPr/>
          <p:nvPr/>
        </p:nvPicPr>
        <p:blipFill>
          <a:blip r:embed="rId4"/>
          <a:stretch/>
        </p:blipFill>
        <p:spPr>
          <a:xfrm>
            <a:off x="2700000" y="1418400"/>
            <a:ext cx="2684880" cy="1277280"/>
          </a:xfrm>
          <a:prstGeom prst="rect">
            <a:avLst/>
          </a:prstGeom>
          <a:ln w="0">
            <a:noFill/>
          </a:ln>
        </p:spPr>
      </p:pic>
      <p:sp>
        <p:nvSpPr>
          <p:cNvPr id="283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27467EA6-8AEF-4A99-B65C-76B65BE33B76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EC44D30-386D-4C50-9DA0-BD66A3345F5F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7"/>
          <p:cNvSpPr/>
          <p:nvPr/>
        </p:nvSpPr>
        <p:spPr>
          <a:xfrm>
            <a:off x="856440" y="698040"/>
            <a:ext cx="477612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Conclusion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ctangle 4"/>
          <p:cNvSpPr/>
          <p:nvPr/>
        </p:nvSpPr>
        <p:spPr>
          <a:xfrm>
            <a:off x="900000" y="1709280"/>
            <a:ext cx="4313520" cy="40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aphicFrame>
        <p:nvGraphicFramePr>
          <p:cNvPr id="286" name="Table 1"/>
          <p:cNvGraphicFramePr/>
          <p:nvPr/>
        </p:nvGraphicFramePr>
        <p:xfrm>
          <a:off x="680760" y="1508760"/>
          <a:ext cx="5414760" cy="3786840"/>
        </p:xfrm>
        <a:graphic>
          <a:graphicData uri="http://schemas.openxmlformats.org/drawingml/2006/table">
            <a:tbl>
              <a:tblPr/>
              <a:tblGrid>
                <a:gridCol w="5415120"/>
              </a:tblGrid>
              <a:tr h="3786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This project presents an AI-powered symptom checker that supports early disease assessment and improves health decision-making.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Key Outcomes: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improve early disease detection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provide medical guidance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b="0" lang="en-US" sz="20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encourage timely medical consultation</a:t>
                      </a:r>
                      <a:endParaRPr b="0" lang="en-GB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7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B420AD57-D732-4AC4-8880-F1E2C923FAA5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Picture 283" descr=""/>
          <p:cNvPicPr/>
          <p:nvPr/>
        </p:nvPicPr>
        <p:blipFill>
          <a:blip r:embed="rId1"/>
          <a:srcRect l="0" t="0" r="0" b="8705"/>
          <a:stretch/>
        </p:blipFill>
        <p:spPr>
          <a:xfrm>
            <a:off x="6045840" y="1303200"/>
            <a:ext cx="5289480" cy="419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8"/>
          <p:cNvSpPr/>
          <p:nvPr/>
        </p:nvSpPr>
        <p:spPr>
          <a:xfrm>
            <a:off x="811080" y="713520"/>
            <a:ext cx="521352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400" spc="-1" strike="noStrike">
                <a:solidFill>
                  <a:srgbClr val="014701"/>
                </a:solidFill>
                <a:latin typeface="Arial"/>
                <a:ea typeface="Tahoma"/>
              </a:rPr>
              <a:t>F.A.C.E.T.S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CBE34BE6-AD82-478F-8489-331DD13D8B6E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1" name="Table 2"/>
          <p:cNvGraphicFramePr/>
          <p:nvPr/>
        </p:nvGraphicFramePr>
        <p:xfrm>
          <a:off x="811080" y="2210040"/>
          <a:ext cx="10601640" cy="2552040"/>
        </p:xfrm>
        <a:graphic>
          <a:graphicData uri="http://schemas.openxmlformats.org/drawingml/2006/table">
            <a:tbl>
              <a:tblPr/>
              <a:tblGrid>
                <a:gridCol w="1356120"/>
                <a:gridCol w="1291320"/>
                <a:gridCol w="1082520"/>
                <a:gridCol w="1665000"/>
                <a:gridCol w="1674000"/>
                <a:gridCol w="1000800"/>
                <a:gridCol w="1656000"/>
                <a:gridCol w="876240"/>
              </a:tblGrid>
              <a:tr h="900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Component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F.A.C.E.T.S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Fairness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Accountability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Confidentiality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Ethics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Transparency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1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Safety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900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Envision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</a:tr>
              <a:tr h="75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Data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92%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75%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en-US" sz="16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100%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8"/>
                    </a:solidFill>
                  </a:tcPr>
                </a:tc>
              </a:tr>
            </a:tbl>
          </a:graphicData>
        </a:graphic>
      </p:graphicFrame>
      <p:sp>
        <p:nvSpPr>
          <p:cNvPr id="292" name="TextBox 3"/>
          <p:cNvSpPr/>
          <p:nvPr/>
        </p:nvSpPr>
        <p:spPr>
          <a:xfrm>
            <a:off x="4689000" y="1840680"/>
            <a:ext cx="2999880" cy="363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F.A.C.E.T.S Score: 50%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57800" y="574560"/>
            <a:ext cx="4812840" cy="5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GB" sz="3400" spc="-1" strike="noStrike">
                <a:solidFill>
                  <a:srgbClr val="004601"/>
                </a:solidFill>
                <a:latin typeface="Kanit"/>
                <a:ea typeface="Tahoma"/>
              </a:rPr>
              <a:t>GANTT CHART</a:t>
            </a:r>
            <a:endParaRPr b="0" lang="en-US" sz="3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4" name="Rectangle 164"/>
          <p:cNvSpPr/>
          <p:nvPr/>
        </p:nvSpPr>
        <p:spPr>
          <a:xfrm>
            <a:off x="11700000" y="4320000"/>
            <a:ext cx="3817440" cy="4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95" name="Picture 165" descr=""/>
          <p:cNvPicPr/>
          <p:nvPr/>
        </p:nvPicPr>
        <p:blipFill>
          <a:blip r:embed="rId1"/>
          <a:stretch/>
        </p:blipFill>
        <p:spPr>
          <a:xfrm>
            <a:off x="1104840" y="1080000"/>
            <a:ext cx="9972000" cy="5036040"/>
          </a:xfrm>
          <a:prstGeom prst="rect">
            <a:avLst/>
          </a:prstGeom>
          <a:ln w="0">
            <a:noFill/>
          </a:ln>
        </p:spPr>
      </p:pic>
      <p:sp>
        <p:nvSpPr>
          <p:cNvPr id="296" name="Rectangle 133"/>
          <p:cNvSpPr/>
          <p:nvPr/>
        </p:nvSpPr>
        <p:spPr>
          <a:xfrm>
            <a:off x="11160000" y="5812920"/>
            <a:ext cx="38206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D11A8F5B-EADF-44E9-876E-BE9625A73A24}" type="slidenum">
              <a:rPr b="0" lang="en-GB" sz="1800" spc="-1" strike="noStrike">
                <a:solidFill>
                  <a:srgbClr val="000000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6BD1675-100E-4BE5-8209-89396C930F13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Calibri"/>
                <a:ea typeface="DejaVu Sans"/>
              </a:rPr>
              <a:t>THANK YOU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" name="Rectangle 168"/>
          <p:cNvSpPr/>
          <p:nvPr/>
        </p:nvSpPr>
        <p:spPr>
          <a:xfrm>
            <a:off x="11520000" y="6232680"/>
            <a:ext cx="381672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fld id="{6C18530F-0EB1-41C5-BA5B-571C6BCE5A79}" type="slidenum">
              <a:rPr b="0" lang="en-GB" sz="1800" spc="-1" strike="noStrike">
                <a:solidFill>
                  <a:srgbClr val="ffffff"/>
                </a:solidFill>
                <a:latin typeface="Kanit"/>
                <a:ea typeface="DejaVu Sans"/>
              </a:rPr>
              <a:t>&lt;number&gt;</a:t>
            </a:fld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_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17171</TotalTime>
  <Application>LibreOffice/24.2.7.2$Linux_X86_64 LibreOffice_project/420$Build-2</Application>
  <AppVersion>15.0000</AppVersion>
  <Words>857</Words>
  <Paragraphs>188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2023-07-24T13:47:17Z</dcterms:created>
  <dc:creator>Vincent Hope</dc:creator>
  <dc:description/>
  <dc:language>en-US</dc:language>
  <cp:lastModifiedBy/>
  <dcterms:modified xsi:type="dcterms:W3CDTF">2026-04-30T08:51:23Z</dcterms:modified>
  <cp:revision>154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2</vt:r8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19</vt:i4>
  </property>
</Properties>
</file>