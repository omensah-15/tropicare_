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slideLayouts/slideLayout11.xml" ContentType="application/vnd.openxmlformats-officedocument.presentationml.slideLayout+xml"/>
  <Override PartName="/ppt/theme/theme10.xml" ContentType="application/vnd.openxmlformats-officedocument.theme+xml"/>
  <Override PartName="/ppt/slideLayouts/slideLayout12.xml" ContentType="application/vnd.openxmlformats-officedocument.presentationml.slideLayout+xml"/>
  <Override PartName="/ppt/theme/theme11.xml" ContentType="application/vnd.openxmlformats-officedocument.theme+xml"/>
  <Override PartName="/ppt/slideLayouts/slideLayout13.xml" ContentType="application/vnd.openxmlformats-officedocument.presentationml.slideLayout+xml"/>
  <Override PartName="/ppt/theme/theme12.xml" ContentType="application/vnd.openxmlformats-officedocument.theme+xml"/>
  <Override PartName="/ppt/slideLayouts/slideLayout14.xml" ContentType="application/vnd.openxmlformats-officedocument.presentationml.slideLayout+xml"/>
  <Override PartName="/ppt/theme/theme13.xml" ContentType="application/vnd.openxmlformats-officedocument.theme+xml"/>
  <Override PartName="/ppt/slideLayouts/slideLayout15.xml" ContentType="application/vnd.openxmlformats-officedocument.presentationml.slideLayout+xml"/>
  <Override PartName="/ppt/theme/theme14.xml" ContentType="application/vnd.openxmlformats-officedocument.theme+xml"/>
  <Override PartName="/ppt/slideLayouts/slideLayout16.xml" ContentType="application/vnd.openxmlformats-officedocument.presentationml.slideLayout+xml"/>
  <Override PartName="/ppt/theme/theme15.xml" ContentType="application/vnd.openxmlformats-officedocument.theme+xml"/>
  <Override PartName="/ppt/slideLayouts/slideLayout17.xml" ContentType="application/vnd.openxmlformats-officedocument.presentationml.slideLayout+xml"/>
  <Override PartName="/ppt/theme/theme1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4" r:id="rId13"/>
    <p:sldMasterId id="2147483676" r:id="rId14"/>
    <p:sldMasterId id="2147483678" r:id="rId15"/>
    <p:sldMasterId id="2147483680" r:id="rId16"/>
  </p:sld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9" r:id="rId29"/>
    <p:sldId id="268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8" r:id="rId38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4" autoAdjust="0"/>
    <p:restoredTop sz="94660"/>
  </p:normalViewPr>
  <p:slideViewPr>
    <p:cSldViewPr snapToGrid="0">
      <p:cViewPr varScale="1">
        <p:scale>
          <a:sx n="81" d="100"/>
          <a:sy n="81" d="100"/>
        </p:scale>
        <p:origin x="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2.xml"/><Relationship Id="rId26" Type="http://schemas.openxmlformats.org/officeDocument/2006/relationships/slide" Target="slides/slide10.xml"/><Relationship Id="rId39" Type="http://schemas.openxmlformats.org/officeDocument/2006/relationships/presProps" Target="presProps.xml"/><Relationship Id="rId21" Type="http://schemas.openxmlformats.org/officeDocument/2006/relationships/slide" Target="slides/slide5.xml"/><Relationship Id="rId34" Type="http://schemas.openxmlformats.org/officeDocument/2006/relationships/slide" Target="slides/slide18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4.xml"/><Relationship Id="rId29" Type="http://schemas.openxmlformats.org/officeDocument/2006/relationships/slide" Target="slides/slide13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8.xml"/><Relationship Id="rId32" Type="http://schemas.openxmlformats.org/officeDocument/2006/relationships/slide" Target="slides/slide16.xml"/><Relationship Id="rId37" Type="http://schemas.openxmlformats.org/officeDocument/2006/relationships/slide" Target="slides/slide2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7.xml"/><Relationship Id="rId28" Type="http://schemas.openxmlformats.org/officeDocument/2006/relationships/slide" Target="slides/slide12.xml"/><Relationship Id="rId36" Type="http://schemas.openxmlformats.org/officeDocument/2006/relationships/slide" Target="slides/slide20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3.xml"/><Relationship Id="rId31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6.xml"/><Relationship Id="rId27" Type="http://schemas.openxmlformats.org/officeDocument/2006/relationships/slide" Target="slides/slide11.xml"/><Relationship Id="rId30" Type="http://schemas.openxmlformats.org/officeDocument/2006/relationships/slide" Target="slides/slide14.xml"/><Relationship Id="rId35" Type="http://schemas.openxmlformats.org/officeDocument/2006/relationships/slide" Target="slides/slide19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1.xml"/><Relationship Id="rId25" Type="http://schemas.openxmlformats.org/officeDocument/2006/relationships/slide" Target="slides/slide9.xml"/><Relationship Id="rId33" Type="http://schemas.openxmlformats.org/officeDocument/2006/relationships/slide" Target="slides/slide17.xml"/><Relationship Id="rId38" Type="http://schemas.openxmlformats.org/officeDocument/2006/relationships/slide" Target="slides/slide2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0680" cy="113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2A5D485-E40F-4266-BD6C-3905E6EB11BE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0680" cy="113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1DE8121-A103-4F01-A94B-8125D5ACFC8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0680" cy="113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4DA28C0A-2327-49FE-923E-98F51609273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0680" cy="113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A9A648CB-F9DC-4677-8C60-9BDC0A6D70A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CC72F8D5-514D-4271-8322-206F2974E7A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0680" cy="113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1A85DE12-323E-40B7-8710-844B8834933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 3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1400" cy="113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GH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GH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lstStyle/>
          <a:p>
            <a:fld id="{09A01EE0-D00E-4339-B115-FD171A7D5C1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5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7315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0680" cy="113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FE574A7E-034E-4B27-8473-F45171AF171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0680" cy="113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840D521C-F215-4734-B624-B592A1B58F3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0680" cy="113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97A513A0-9B6B-4AA9-9A95-7AB8F917113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0680" cy="113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16DE9501-C4C5-4D68-AF9D-EAFDDCE7ED7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0680" cy="113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AD360DF4-7834-4823-829A-B68DA61AB4F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0680" cy="113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79CA759D-BCB3-460D-A5C1-5DD8C778F5A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Vertical Tex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0680" cy="113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AA50ACE8-5666-45E1-89C7-2AC889CB07D6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0680" cy="113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44047AAB-3DB5-4750-AE5A-B88DD87A1DD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2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0680" cy="113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7"/>
          </p:nvPr>
        </p:nvSpPr>
        <p:spPr/>
        <p:txBody>
          <a:bodyPr/>
          <a:lstStyle/>
          <a:p>
            <a:fld id="{C5BB6D49-BD47-48B6-89F4-0B4A8DF033F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4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0680" cy="113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0"/>
          </p:nvPr>
        </p:nvSpPr>
        <p:spPr/>
        <p:txBody>
          <a:bodyPr/>
          <a:lstStyle/>
          <a:p>
            <a:fld id="{511DC554-6377-4F98-ACA2-963BB100028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5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2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3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4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5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6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0680" cy="113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GB" sz="1800" b="0" strike="noStrike" spc="-1">
                <a:solidFill>
                  <a:srgbClr val="FFFFFF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01480" cy="35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FFFFFF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Times New Roman"/>
                <a:ea typeface="DejaVu Sans"/>
              </a:rPr>
              <a:t>&lt;footer&gt;</a:t>
            </a:r>
            <a:endParaRPr lang="en-GB" sz="1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29880" cy="35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0E97311-6427-41F2-B37E-A7B528972ED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‹#›</a:t>
            </a:fld>
            <a:endParaRPr lang="en-GB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29880" cy="35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GB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strike="noStrike" spc="-1">
                <a:solidFill>
                  <a:srgbClr val="FFFFFF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solidFill>
                  <a:srgbClr val="FFFFFF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solidFill>
                  <a:srgbClr val="FFFFFF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solidFill>
                  <a:srgbClr val="FFFFFF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FFFFFF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0680" cy="113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vert="eaVert"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01480" cy="35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29880" cy="35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DD4B110-7D72-487B-9115-F7A2EDC62BC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29880" cy="35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0680" cy="1132560"/>
          </a:xfrm>
          <a:prstGeom prst="rect">
            <a:avLst/>
          </a:prstGeom>
          <a:noFill/>
          <a:ln w="0">
            <a:noFill/>
          </a:ln>
        </p:spPr>
        <p:txBody>
          <a:bodyPr vert="eaVert" lIns="0" tIns="0" rIns="0" bIns="0" anchor="ctr">
            <a:noAutofit/>
          </a:bodyPr>
          <a:lstStyle/>
          <a:p>
            <a:pPr indent="0">
              <a:buNone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vert="eaVert"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01480" cy="35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29880" cy="35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4A48D27-37F2-42A3-B87E-596B8E506076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29880" cy="35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0680" cy="113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01480" cy="35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29880" cy="35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8948775-BF8A-4CE7-92C4-AB0CA7668085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29880" cy="35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01480" cy="35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29880" cy="35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EE81A1C-5366-49A2-9EC4-1A3E4EC77D3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29880" cy="35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0680" cy="113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2" name="PlaceHolder 3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01480" cy="35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29880" cy="35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CF46C63-AA96-4EB3-87CE-C20E436939D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29880" cy="35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8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0680" cy="113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ftr" idx="19"/>
          </p:nvPr>
        </p:nvSpPr>
        <p:spPr>
          <a:xfrm>
            <a:off x="7071120" y="5266080"/>
            <a:ext cx="2013120" cy="35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sldNum" idx="20"/>
          </p:nvPr>
        </p:nvSpPr>
        <p:spPr>
          <a:xfrm>
            <a:off x="9662760" y="5266080"/>
            <a:ext cx="2013120" cy="35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06FFCDF-65FC-44F9-92DA-343D6D360B76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dt" idx="21"/>
          </p:nvPr>
        </p:nvSpPr>
        <p:spPr>
          <a:xfrm>
            <a:off x="5023440" y="5266080"/>
            <a:ext cx="1469160" cy="35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0680" cy="113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098600" cy="34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27000" cy="34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9C1405E-B54F-4E07-AE2B-4A060D43099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27000" cy="34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0680" cy="113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3" name="PlaceHolder 3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098600" cy="34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27000" cy="34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7622C40-A4DE-4C81-9243-EC0E4F5D3EF5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27000" cy="34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0680" cy="113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9" name="PlaceHolder 2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098600" cy="34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27000" cy="34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82F2915-EC3F-4184-84FD-91D04F289707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27000" cy="34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0680" cy="113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7" name="PlaceHolder 3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098600" cy="34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27000" cy="34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327BAD4-5183-4ACC-9732-C97E0DCAC11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27000" cy="34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0680" cy="113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4" name="PlaceHolder 3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098600" cy="34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27000" cy="34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3055E4D-96C1-4D57-B9F2-80B9114EAF1C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27000" cy="34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0680" cy="113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vert="eaVert"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8" name="PlaceHolder 3"/>
          <p:cNvSpPr>
            <a:spLocks noGrp="1"/>
          </p:cNvSpPr>
          <p:nvPr>
            <p:ph type="ftr" idx="40"/>
          </p:nvPr>
        </p:nvSpPr>
        <p:spPr>
          <a:xfrm>
            <a:off x="4038480" y="6356160"/>
            <a:ext cx="4102920" cy="35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05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GB" sz="105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sldNum" idx="41"/>
          </p:nvPr>
        </p:nvSpPr>
        <p:spPr>
          <a:xfrm>
            <a:off x="8610480" y="6356160"/>
            <a:ext cx="2730960" cy="35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tabLst>
                <a:tab pos="0" algn="l"/>
              </a:tabLst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  <a:tabLst>
                <a:tab pos="0" algn="l"/>
              </a:tabLst>
            </a:pPr>
            <a:fld id="{F4F77D75-9729-48A4-BE80-A178828A5915}" type="slidenum"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‹#›</a:t>
            </a:fld>
            <a:endParaRPr lang="en-GB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dt" idx="42"/>
          </p:nvPr>
        </p:nvSpPr>
        <p:spPr>
          <a:xfrm>
            <a:off x="838080" y="6356160"/>
            <a:ext cx="2730960" cy="35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0680" cy="113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95" name="PlaceHolder 3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00760" cy="3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29160" cy="3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2B0A9F-E5CA-4329-BB95-9D8E28F4120E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29160" cy="3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0680" cy="113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02" name="PlaceHolder 3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098600" cy="34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27000" cy="34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E0C6C34-243D-4B68-907D-906BA612E495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27000" cy="34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523880" y="1743120"/>
            <a:ext cx="9130680" cy="113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09" name="PlaceHolder 3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098600" cy="34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27000" cy="34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28D7325-FA05-4705-ABF2-FE1A2BE610BD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DejaVu Sans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27000" cy="34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tropi-care.vercel.app/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3"/>
          <p:cNvSpPr/>
          <p:nvPr/>
        </p:nvSpPr>
        <p:spPr>
          <a:xfrm>
            <a:off x="4960800" y="3602880"/>
            <a:ext cx="6770880" cy="2331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algn="ctr" defTabSz="914400">
              <a:lnSpc>
                <a:spcPct val="100000"/>
              </a:lnSpc>
              <a:spcBef>
                <a:spcPts val="1417"/>
              </a:spcBef>
              <a:tabLst>
                <a:tab pos="0" algn="l"/>
              </a:tabLst>
            </a:pPr>
            <a:endParaRPr lang="en-GB" sz="20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417"/>
              </a:spcBef>
              <a:tabLst>
                <a:tab pos="0" algn="l"/>
              </a:tabLst>
            </a:pPr>
            <a:r>
              <a:rPr lang="en-GB" sz="2000" b="0" strike="noStrike" spc="-1">
                <a:solidFill>
                  <a:schemeClr val="lt2">
                    <a:lumMod val="10000"/>
                  </a:schemeClr>
                </a:solidFill>
                <a:latin typeface="Arial"/>
                <a:ea typeface="Tahoma"/>
              </a:rPr>
              <a:t>MENSAH OBED</a:t>
            </a:r>
            <a:endParaRPr lang="en-GB" sz="20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417"/>
              </a:spcBef>
              <a:tabLst>
                <a:tab pos="0" algn="l"/>
              </a:tabLst>
            </a:pPr>
            <a:r>
              <a:rPr lang="en-GB" sz="2000" b="0" strike="noStrike" spc="-1">
                <a:solidFill>
                  <a:schemeClr val="lt2">
                    <a:lumMod val="10000"/>
                  </a:schemeClr>
                </a:solidFill>
                <a:latin typeface="Arial"/>
                <a:ea typeface="Tahoma"/>
              </a:rPr>
              <a:t>AFRIQUE-AHALI KEKELI</a:t>
            </a:r>
            <a:endParaRPr lang="en-GB" sz="20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417"/>
              </a:spcBef>
              <a:tabLst>
                <a:tab pos="0" algn="l"/>
              </a:tabLst>
            </a:pPr>
            <a:r>
              <a:rPr lang="en-GB" sz="2000" b="0" strike="noStrike" spc="-1">
                <a:solidFill>
                  <a:schemeClr val="lt2">
                    <a:lumMod val="10000"/>
                  </a:schemeClr>
                </a:solidFill>
                <a:latin typeface="Arial"/>
                <a:ea typeface="Tahoma"/>
              </a:rPr>
              <a:t>SUPERVISOR: PROF. J.J. KPONYO</a:t>
            </a:r>
            <a:endParaRPr lang="en-GB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2"/>
          <p:cNvSpPr/>
          <p:nvPr/>
        </p:nvSpPr>
        <p:spPr>
          <a:xfrm>
            <a:off x="4425840" y="1485720"/>
            <a:ext cx="7615440" cy="22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800" b="1" strike="noStrike" spc="-1">
                <a:solidFill>
                  <a:srgbClr val="044702"/>
                </a:solidFill>
                <a:latin typeface="Arial"/>
                <a:ea typeface="Tahoma"/>
              </a:rPr>
              <a:t>AI-Powered Symptom Checker for Tropical Diseases (SCTD)</a:t>
            </a:r>
            <a:endParaRPr lang="en-GB" sz="4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Rectangle 80"/>
          <p:cNvSpPr/>
          <p:nvPr/>
        </p:nvSpPr>
        <p:spPr>
          <a:xfrm>
            <a:off x="11657160" y="5940000"/>
            <a:ext cx="3811680" cy="41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D22AA469-8E14-478B-B4F4-21D041E95E16}" type="slidenum">
              <a:rPr lang="en-GB" sz="1800" b="0" strike="noStrike" spc="-1">
                <a:solidFill>
                  <a:srgbClr val="000000"/>
                </a:solidFill>
                <a:latin typeface="Kanit"/>
                <a:ea typeface="DejaVu Sans"/>
              </a:rPr>
              <a:t>1</a:t>
            </a:fld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893160" y="711720"/>
            <a:ext cx="323244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3600" b="1" strike="noStrike" spc="-1">
                <a:solidFill>
                  <a:srgbClr val="044702"/>
                </a:solidFill>
                <a:latin typeface="Arial"/>
                <a:ea typeface="Tahoma"/>
              </a:rPr>
              <a:t>Outline</a:t>
            </a:r>
            <a:endParaRPr lang="en-GB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lide Number Placeholder 1"/>
          <p:cNvSpPr/>
          <p:nvPr/>
        </p:nvSpPr>
        <p:spPr>
          <a:xfrm>
            <a:off x="11184120" y="5853600"/>
            <a:ext cx="2010240" cy="34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Kanit"/>
                <a:ea typeface="DejaVu Sans"/>
              </a:rPr>
              <a:t>2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Picture 5"/>
          <p:cNvPicPr/>
          <p:nvPr/>
        </p:nvPicPr>
        <p:blipFill>
          <a:blip r:embed="rId2"/>
          <a:stretch/>
        </p:blipFill>
        <p:spPr>
          <a:xfrm>
            <a:off x="893160" y="1693800"/>
            <a:ext cx="10444320" cy="34682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0228152A-ABBB-48F4-80B5-519683A4266E}" type="slidenum">
              <a:rPr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4"/>
          <p:cNvSpPr/>
          <p:nvPr/>
        </p:nvSpPr>
        <p:spPr>
          <a:xfrm>
            <a:off x="900360" y="720360"/>
            <a:ext cx="3234600" cy="53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GB" sz="3400" b="1" strike="noStrike" spc="-1">
                <a:solidFill>
                  <a:srgbClr val="044702"/>
                </a:solidFill>
                <a:latin typeface="Arial"/>
                <a:ea typeface="Tahoma"/>
              </a:rPr>
              <a:t>Introduction</a:t>
            </a:r>
            <a:endParaRPr lang="en-GB" sz="3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Rectangle 85"/>
          <p:cNvSpPr/>
          <p:nvPr/>
        </p:nvSpPr>
        <p:spPr>
          <a:xfrm>
            <a:off x="900000" y="1800000"/>
            <a:ext cx="4130640" cy="341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GB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9" name="Rectangle 87"/>
          <p:cNvSpPr/>
          <p:nvPr/>
        </p:nvSpPr>
        <p:spPr>
          <a:xfrm>
            <a:off x="900000" y="1550520"/>
            <a:ext cx="4000320" cy="402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GB" sz="1600" b="0" strike="noStrike" spc="-1">
              <a:solidFill>
                <a:srgbClr val="000000"/>
              </a:solidFill>
              <a:latin typeface="Kanit"/>
              <a:ea typeface="DejaVu Sans"/>
            </a:endParaRPr>
          </a:p>
        </p:txBody>
      </p:sp>
      <p:graphicFrame>
        <p:nvGraphicFramePr>
          <p:cNvPr id="130" name="Table 1"/>
          <p:cNvGraphicFramePr/>
          <p:nvPr/>
        </p:nvGraphicFramePr>
        <p:xfrm>
          <a:off x="661320" y="1281960"/>
          <a:ext cx="5434200" cy="4478040"/>
        </p:xfrm>
        <a:graphic>
          <a:graphicData uri="http://schemas.openxmlformats.org/drawingml/2006/table">
            <a:tbl>
              <a:tblPr/>
              <a:tblGrid>
                <a:gridCol w="543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8040">
                <a:tc>
                  <a:txBody>
                    <a:bodyPr/>
                    <a:lstStyle/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181717"/>
                        </a:buClr>
                        <a:buFont typeface="Wingdings" charset="2"/>
                        <a:buChar char=""/>
                      </a:pPr>
                      <a:r>
                        <a:rPr lang="en-US" sz="2000" b="0" strike="noStrike" spc="-1" dirty="0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Healthcare delivery in Ghana has improved over the years.</a:t>
                      </a:r>
                      <a:endParaRPr lang="en-GB" sz="2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lang="en-GB" sz="2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181717"/>
                        </a:buClr>
                        <a:buFont typeface="Wingdings" charset="2"/>
                        <a:buChar char=""/>
                      </a:pPr>
                      <a:r>
                        <a:rPr lang="en-US" sz="2000" b="0" strike="noStrike" spc="-1" dirty="0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Ghana already incorporates digital tools such as DHIMS2 and EHR for data aggregation and management.</a:t>
                      </a:r>
                      <a:endParaRPr lang="en-GB" sz="2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lang="en-GB" sz="2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181717"/>
                        </a:buClr>
                        <a:buFont typeface="Wingdings" charset="2"/>
                        <a:buChar char=""/>
                      </a:pPr>
                      <a:r>
                        <a:rPr lang="en-US" sz="2000" b="0" strike="noStrike" spc="-1" dirty="0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Artificial Intelligence enables intelligent data analysis and supports faster decision-making.</a:t>
                      </a:r>
                      <a:endParaRPr lang="en-GB" sz="2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lang="en-GB" sz="2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181717"/>
                        </a:buClr>
                        <a:buFont typeface="Wingdings" charset="2"/>
                        <a:buChar char=""/>
                      </a:pPr>
                      <a:r>
                        <a:rPr lang="en-US" sz="2000" b="0" strike="noStrike" spc="-1" dirty="0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Therefore, it can be incorporated in our healthcare systems to improve efficiency.</a:t>
                      </a:r>
                      <a:endParaRPr lang="en-GB" sz="2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1" name="Picture 2" descr="A group of people in scrubs using a tablet"/>
          <p:cNvPicPr/>
          <p:nvPr/>
        </p:nvPicPr>
        <p:blipFill>
          <a:blip r:embed="rId2"/>
          <a:srcRect r="7272"/>
          <a:stretch/>
        </p:blipFill>
        <p:spPr>
          <a:xfrm>
            <a:off x="6105600" y="1265760"/>
            <a:ext cx="5037480" cy="4499640"/>
          </a:xfrm>
          <a:prstGeom prst="rect">
            <a:avLst/>
          </a:prstGeom>
          <a:ln w="0">
            <a:noFill/>
          </a:ln>
        </p:spPr>
      </p:pic>
      <p:sp>
        <p:nvSpPr>
          <p:cNvPr id="132" name="Slide Number Placeholder 1"/>
          <p:cNvSpPr/>
          <p:nvPr/>
        </p:nvSpPr>
        <p:spPr>
          <a:xfrm>
            <a:off x="11184120" y="5853600"/>
            <a:ext cx="2010240" cy="34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Kanit"/>
                <a:ea typeface="DejaVu Sans"/>
              </a:rPr>
              <a:t>3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9D51A4E3-928E-4E84-AF2F-BA2F9C4BAAC8}" type="slidenum">
              <a:rPr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: Rounded Corners 28"/>
          <p:cNvSpPr/>
          <p:nvPr/>
        </p:nvSpPr>
        <p:spPr>
          <a:xfrm>
            <a:off x="8846640" y="1263600"/>
            <a:ext cx="2391120" cy="88920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400" b="1" strike="noStrike" spc="-1">
              <a:solidFill>
                <a:schemeClr val="lt1"/>
              </a:solidFill>
              <a:latin typeface="Kanit"/>
              <a:ea typeface="DejaVu Sans"/>
            </a:endParaRPr>
          </a:p>
        </p:txBody>
      </p:sp>
      <p:sp>
        <p:nvSpPr>
          <p:cNvPr id="134" name="Rectangle: Rounded Corners 19"/>
          <p:cNvSpPr/>
          <p:nvPr/>
        </p:nvSpPr>
        <p:spPr>
          <a:xfrm>
            <a:off x="923040" y="3764880"/>
            <a:ext cx="2392200" cy="91080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135" name="PlaceHolder 5"/>
          <p:cNvSpPr/>
          <p:nvPr/>
        </p:nvSpPr>
        <p:spPr>
          <a:xfrm>
            <a:off x="900360" y="720360"/>
            <a:ext cx="4674240" cy="53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GB" sz="3400" b="1" strike="noStrike" spc="-1">
                <a:solidFill>
                  <a:srgbClr val="044702"/>
                </a:solidFill>
                <a:latin typeface="Arial"/>
                <a:ea typeface="Tahoma"/>
              </a:rPr>
              <a:t>Problem Statement</a:t>
            </a:r>
            <a:endParaRPr lang="en-GB" sz="3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ectangle: Rounded Corners 1"/>
          <p:cNvSpPr/>
          <p:nvPr/>
        </p:nvSpPr>
        <p:spPr>
          <a:xfrm>
            <a:off x="932760" y="1254240"/>
            <a:ext cx="2391120" cy="91080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400" b="1" strike="noStrike" spc="-1">
              <a:solidFill>
                <a:schemeClr val="lt1"/>
              </a:solidFill>
              <a:latin typeface="Kanit"/>
              <a:ea typeface="DejaVu Sans"/>
            </a:endParaRPr>
          </a:p>
        </p:txBody>
      </p:sp>
      <p:sp>
        <p:nvSpPr>
          <p:cNvPr id="137" name="Rectangle: Rounded Corners 4"/>
          <p:cNvSpPr/>
          <p:nvPr/>
        </p:nvSpPr>
        <p:spPr>
          <a:xfrm>
            <a:off x="902160" y="2506320"/>
            <a:ext cx="2400120" cy="91080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1" strike="noStrike" spc="-1">
              <a:solidFill>
                <a:schemeClr val="lt2">
                  <a:lumMod val="10000"/>
                </a:schemeClr>
              </a:solidFill>
              <a:latin typeface="Arial"/>
              <a:ea typeface="DejaVu Sans"/>
            </a:endParaRPr>
          </a:p>
        </p:txBody>
      </p:sp>
      <p:sp>
        <p:nvSpPr>
          <p:cNvPr id="138" name="TextBox 6"/>
          <p:cNvSpPr/>
          <p:nvPr/>
        </p:nvSpPr>
        <p:spPr>
          <a:xfrm>
            <a:off x="1260000" y="2598480"/>
            <a:ext cx="2130840" cy="82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1" strike="noStrike" spc="-1">
                <a:solidFill>
                  <a:schemeClr val="lt2">
                    <a:lumMod val="10000"/>
                  </a:schemeClr>
                </a:solidFill>
                <a:latin typeface="Kanit"/>
                <a:ea typeface="DejaVu Sans"/>
              </a:rPr>
              <a:t>Lack of Accessible Decision-Support tools</a:t>
            </a:r>
            <a:endParaRPr lang="en-GB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8"/>
          <p:cNvSpPr/>
          <p:nvPr/>
        </p:nvSpPr>
        <p:spPr>
          <a:xfrm>
            <a:off x="1675800" y="3834360"/>
            <a:ext cx="1576440" cy="82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1" strike="noStrike" spc="-1">
                <a:solidFill>
                  <a:schemeClr val="lt2">
                    <a:lumMod val="10000"/>
                  </a:schemeClr>
                </a:solidFill>
                <a:latin typeface="Kanit"/>
                <a:ea typeface="DejaVu Sans"/>
              </a:rPr>
              <a:t>Social and interpersonal influence</a:t>
            </a:r>
            <a:endParaRPr lang="en-GB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Rectangle: Rounded Corners 9"/>
          <p:cNvSpPr/>
          <p:nvPr/>
        </p:nvSpPr>
        <p:spPr>
          <a:xfrm>
            <a:off x="4890960" y="2370960"/>
            <a:ext cx="2605320" cy="118440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pic>
        <p:nvPicPr>
          <p:cNvPr id="141" name="Picture 10"/>
          <p:cNvPicPr/>
          <p:nvPr/>
        </p:nvPicPr>
        <p:blipFill>
          <a:blip r:embed="rId2"/>
          <a:stretch/>
        </p:blipFill>
        <p:spPr>
          <a:xfrm>
            <a:off x="8918640" y="1409760"/>
            <a:ext cx="768600" cy="618120"/>
          </a:xfrm>
          <a:prstGeom prst="rect">
            <a:avLst/>
          </a:prstGeom>
          <a:ln w="0">
            <a:noFill/>
          </a:ln>
        </p:spPr>
      </p:pic>
      <p:sp>
        <p:nvSpPr>
          <p:cNvPr id="142" name="TextBox 11"/>
          <p:cNvSpPr/>
          <p:nvPr/>
        </p:nvSpPr>
        <p:spPr>
          <a:xfrm>
            <a:off x="5558040" y="2670120"/>
            <a:ext cx="1865880" cy="82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1" strike="noStrike" spc="-1">
                <a:solidFill>
                  <a:schemeClr val="lt2">
                    <a:lumMod val="10000"/>
                  </a:schemeClr>
                </a:solidFill>
                <a:latin typeface="Kanit"/>
                <a:ea typeface="DejaVu Sans"/>
              </a:rPr>
              <a:t>Uninformed Health Decisions</a:t>
            </a:r>
            <a:endParaRPr lang="en-GB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Rectangle: Rounded Corners 12"/>
          <p:cNvSpPr/>
          <p:nvPr/>
        </p:nvSpPr>
        <p:spPr>
          <a:xfrm>
            <a:off x="8846640" y="2506320"/>
            <a:ext cx="2392200" cy="91080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pic>
        <p:nvPicPr>
          <p:cNvPr id="144" name="Picture 13"/>
          <p:cNvPicPr/>
          <p:nvPr/>
        </p:nvPicPr>
        <p:blipFill>
          <a:blip r:embed="rId3"/>
          <a:stretch/>
        </p:blipFill>
        <p:spPr>
          <a:xfrm>
            <a:off x="9024840" y="2670120"/>
            <a:ext cx="563400" cy="563400"/>
          </a:xfrm>
          <a:prstGeom prst="rect">
            <a:avLst/>
          </a:prstGeom>
          <a:ln w="0">
            <a:noFill/>
          </a:ln>
        </p:spPr>
      </p:pic>
      <p:sp>
        <p:nvSpPr>
          <p:cNvPr id="145" name="TextBox 14"/>
          <p:cNvSpPr/>
          <p:nvPr/>
        </p:nvSpPr>
        <p:spPr>
          <a:xfrm>
            <a:off x="9590400" y="2671200"/>
            <a:ext cx="1637640" cy="5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1" strike="noStrike" spc="-1">
                <a:solidFill>
                  <a:schemeClr val="lt2">
                    <a:lumMod val="10000"/>
                  </a:schemeClr>
                </a:solidFill>
                <a:latin typeface="Kanit"/>
                <a:ea typeface="DejaVu Sans"/>
              </a:rPr>
              <a:t>Disease Progression</a:t>
            </a:r>
            <a:endParaRPr lang="en-GB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ectangle: Rounded Corners 29"/>
          <p:cNvSpPr/>
          <p:nvPr/>
        </p:nvSpPr>
        <p:spPr>
          <a:xfrm>
            <a:off x="8883000" y="3760200"/>
            <a:ext cx="2391120" cy="91080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400" b="1" strike="noStrike" spc="-1">
              <a:solidFill>
                <a:schemeClr val="lt1"/>
              </a:solidFill>
              <a:latin typeface="Kanit"/>
              <a:ea typeface="DejaVu Sans"/>
            </a:endParaRPr>
          </a:p>
        </p:txBody>
      </p:sp>
      <p:sp>
        <p:nvSpPr>
          <p:cNvPr id="147" name="TextBox 47"/>
          <p:cNvSpPr/>
          <p:nvPr/>
        </p:nvSpPr>
        <p:spPr>
          <a:xfrm>
            <a:off x="1510560" y="1409040"/>
            <a:ext cx="1741680" cy="5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1" strike="noStrike" spc="-1">
                <a:solidFill>
                  <a:schemeClr val="lt2">
                    <a:lumMod val="10000"/>
                  </a:schemeClr>
                </a:solidFill>
                <a:latin typeface="Kanit"/>
                <a:ea typeface="DejaVu Sans"/>
              </a:rPr>
              <a:t>Hospital Waiting Times</a:t>
            </a:r>
            <a:endParaRPr lang="en-GB" sz="1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8" name="Picture 49"/>
          <p:cNvPicPr/>
          <p:nvPr/>
        </p:nvPicPr>
        <p:blipFill>
          <a:blip r:embed="rId4"/>
          <a:stretch/>
        </p:blipFill>
        <p:spPr>
          <a:xfrm>
            <a:off x="950760" y="1390680"/>
            <a:ext cx="618120" cy="618120"/>
          </a:xfrm>
          <a:prstGeom prst="rect">
            <a:avLst/>
          </a:prstGeom>
          <a:ln w="0">
            <a:noFill/>
          </a:ln>
        </p:spPr>
      </p:pic>
      <p:pic>
        <p:nvPicPr>
          <p:cNvPr id="149" name="Picture 51"/>
          <p:cNvPicPr/>
          <p:nvPr/>
        </p:nvPicPr>
        <p:blipFill>
          <a:blip r:embed="rId5"/>
          <a:stretch/>
        </p:blipFill>
        <p:spPr>
          <a:xfrm>
            <a:off x="840960" y="2605320"/>
            <a:ext cx="620280" cy="618120"/>
          </a:xfrm>
          <a:prstGeom prst="rect">
            <a:avLst/>
          </a:prstGeom>
          <a:ln w="0">
            <a:noFill/>
          </a:ln>
        </p:spPr>
      </p:pic>
      <p:pic>
        <p:nvPicPr>
          <p:cNvPr id="150" name="Picture 53"/>
          <p:cNvPicPr/>
          <p:nvPr/>
        </p:nvPicPr>
        <p:blipFill>
          <a:blip r:embed="rId6"/>
          <a:stretch/>
        </p:blipFill>
        <p:spPr>
          <a:xfrm>
            <a:off x="1045080" y="3915360"/>
            <a:ext cx="618120" cy="618120"/>
          </a:xfrm>
          <a:prstGeom prst="rect">
            <a:avLst/>
          </a:prstGeom>
          <a:ln w="0">
            <a:noFill/>
          </a:ln>
        </p:spPr>
      </p:pic>
      <p:pic>
        <p:nvPicPr>
          <p:cNvPr id="151" name="Picture 55"/>
          <p:cNvPicPr/>
          <p:nvPr/>
        </p:nvPicPr>
        <p:blipFill>
          <a:blip r:embed="rId7"/>
          <a:stretch/>
        </p:blipFill>
        <p:spPr>
          <a:xfrm>
            <a:off x="4854600" y="2471760"/>
            <a:ext cx="981000" cy="960120"/>
          </a:xfrm>
          <a:prstGeom prst="rect">
            <a:avLst/>
          </a:prstGeom>
          <a:ln w="0">
            <a:noFill/>
          </a:ln>
        </p:spPr>
      </p:pic>
      <p:sp>
        <p:nvSpPr>
          <p:cNvPr id="152" name="TextBox 56"/>
          <p:cNvSpPr/>
          <p:nvPr/>
        </p:nvSpPr>
        <p:spPr>
          <a:xfrm>
            <a:off x="9544680" y="1428120"/>
            <a:ext cx="1637280" cy="5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1" strike="noStrike" spc="-1">
                <a:solidFill>
                  <a:schemeClr val="lt2">
                    <a:lumMod val="10000"/>
                  </a:schemeClr>
                </a:solidFill>
                <a:latin typeface="Kanit"/>
                <a:ea typeface="DejaVu Sans"/>
              </a:rPr>
              <a:t>Incorrect Self Medication</a:t>
            </a:r>
            <a:endParaRPr lang="en-GB" sz="1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Picture 58"/>
          <p:cNvPicPr/>
          <p:nvPr/>
        </p:nvPicPr>
        <p:blipFill>
          <a:blip r:embed="rId8"/>
          <a:stretch/>
        </p:blipFill>
        <p:spPr>
          <a:xfrm>
            <a:off x="9069840" y="3834360"/>
            <a:ext cx="618120" cy="618120"/>
          </a:xfrm>
          <a:prstGeom prst="rect">
            <a:avLst/>
          </a:prstGeom>
          <a:ln w="0">
            <a:noFill/>
          </a:ln>
        </p:spPr>
      </p:pic>
      <p:sp>
        <p:nvSpPr>
          <p:cNvPr id="154" name="TextBox 59"/>
          <p:cNvSpPr/>
          <p:nvPr/>
        </p:nvSpPr>
        <p:spPr>
          <a:xfrm>
            <a:off x="9663480" y="3897720"/>
            <a:ext cx="1637280" cy="5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1" strike="noStrike" spc="-1">
                <a:solidFill>
                  <a:schemeClr val="lt2">
                    <a:lumMod val="10000"/>
                  </a:schemeClr>
                </a:solidFill>
                <a:latin typeface="Kanit"/>
                <a:ea typeface="DejaVu Sans"/>
              </a:rPr>
              <a:t>Unnecessary Hospital Visits</a:t>
            </a:r>
            <a:endParaRPr lang="en-GB" sz="16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5" name="Table 72"/>
          <p:cNvGraphicFramePr/>
          <p:nvPr/>
        </p:nvGraphicFramePr>
        <p:xfrm>
          <a:off x="1105920" y="4959720"/>
          <a:ext cx="9977760" cy="1005840"/>
        </p:xfrm>
        <a:graphic>
          <a:graphicData uri="http://schemas.openxmlformats.org/drawingml/2006/table">
            <a:tbl>
              <a:tblPr/>
              <a:tblGrid>
                <a:gridCol w="997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000" b="1" i="1" strike="noStrike" spc="-1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The absence of a symptom checker tool that provides health guidance leads individuals to make uninformed health decisions which can cause adverse effects.</a:t>
                      </a:r>
                      <a:endParaRPr lang="en-GB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6" name="Slide Number Placeholder 1"/>
          <p:cNvSpPr/>
          <p:nvPr/>
        </p:nvSpPr>
        <p:spPr>
          <a:xfrm>
            <a:off x="11184120" y="5853600"/>
            <a:ext cx="2010240" cy="34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Kanit"/>
                <a:ea typeface="DejaVu Sans"/>
              </a:rPr>
              <a:t>4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7" name="Straight Arrow Connector 42"/>
          <p:cNvCxnSpPr>
            <a:stCxn id="136" idx="3"/>
            <a:endCxn id="140" idx="1"/>
          </p:cNvCxnSpPr>
          <p:nvPr/>
        </p:nvCxnSpPr>
        <p:spPr>
          <a:xfrm>
            <a:off x="3323880" y="1709640"/>
            <a:ext cx="1567440" cy="1253880"/>
          </a:xfrm>
          <a:prstGeom prst="straightConnector1">
            <a:avLst/>
          </a:prstGeom>
          <a:ln w="0">
            <a:solidFill>
              <a:srgbClr val="181717"/>
            </a:solidFill>
            <a:tailEnd type="triangle" w="med" len="med"/>
          </a:ln>
        </p:spPr>
      </p:cxnSp>
      <p:cxnSp>
        <p:nvCxnSpPr>
          <p:cNvPr id="158" name="Straight Arrow Connector 46"/>
          <p:cNvCxnSpPr>
            <a:endCxn id="140" idx="1"/>
          </p:cNvCxnSpPr>
          <p:nvPr/>
        </p:nvCxnSpPr>
        <p:spPr>
          <a:xfrm>
            <a:off x="3295440" y="2958480"/>
            <a:ext cx="1595880" cy="5040"/>
          </a:xfrm>
          <a:prstGeom prst="straightConnector1">
            <a:avLst/>
          </a:prstGeom>
          <a:ln w="0">
            <a:solidFill>
              <a:srgbClr val="181717"/>
            </a:solidFill>
            <a:tailEnd type="triangle" w="med" len="med"/>
          </a:ln>
        </p:spPr>
      </p:cxnSp>
      <p:cxnSp>
        <p:nvCxnSpPr>
          <p:cNvPr id="159" name="Straight Arrow Connector 48"/>
          <p:cNvCxnSpPr>
            <a:endCxn id="140" idx="1"/>
          </p:cNvCxnSpPr>
          <p:nvPr/>
        </p:nvCxnSpPr>
        <p:spPr>
          <a:xfrm flipV="1">
            <a:off x="3310560" y="2963160"/>
            <a:ext cx="1580760" cy="1244520"/>
          </a:xfrm>
          <a:prstGeom prst="straightConnector1">
            <a:avLst/>
          </a:prstGeom>
          <a:ln w="0">
            <a:solidFill>
              <a:srgbClr val="181717"/>
            </a:solidFill>
            <a:tailEnd type="triangle" w="med" len="med"/>
          </a:ln>
        </p:spPr>
      </p:cxnSp>
      <p:cxnSp>
        <p:nvCxnSpPr>
          <p:cNvPr id="160" name="Straight Arrow Connector 50"/>
          <p:cNvCxnSpPr>
            <a:endCxn id="143" idx="1"/>
          </p:cNvCxnSpPr>
          <p:nvPr/>
        </p:nvCxnSpPr>
        <p:spPr>
          <a:xfrm>
            <a:off x="7496280" y="2961000"/>
            <a:ext cx="1350720" cy="1080"/>
          </a:xfrm>
          <a:prstGeom prst="straightConnector1">
            <a:avLst/>
          </a:prstGeom>
          <a:ln w="0">
            <a:solidFill>
              <a:srgbClr val="181717"/>
            </a:solidFill>
            <a:tailEnd type="triangle" w="med" len="med"/>
          </a:ln>
        </p:spPr>
      </p:cxnSp>
      <p:cxnSp>
        <p:nvCxnSpPr>
          <p:cNvPr id="161" name="Straight Arrow Connector 52"/>
          <p:cNvCxnSpPr>
            <a:stCxn id="140" idx="3"/>
            <a:endCxn id="133" idx="1"/>
          </p:cNvCxnSpPr>
          <p:nvPr/>
        </p:nvCxnSpPr>
        <p:spPr>
          <a:xfrm flipV="1">
            <a:off x="7496280" y="1708200"/>
            <a:ext cx="1350720" cy="1255320"/>
          </a:xfrm>
          <a:prstGeom prst="straightConnector1">
            <a:avLst/>
          </a:prstGeom>
          <a:ln w="0">
            <a:solidFill>
              <a:srgbClr val="181717"/>
            </a:solidFill>
            <a:tailEnd type="triangle" w="med" len="med"/>
          </a:ln>
        </p:spPr>
      </p:cxnSp>
      <p:cxnSp>
        <p:nvCxnSpPr>
          <p:cNvPr id="162" name="Straight Arrow Connector 55"/>
          <p:cNvCxnSpPr>
            <a:endCxn id="146" idx="1"/>
          </p:cNvCxnSpPr>
          <p:nvPr/>
        </p:nvCxnSpPr>
        <p:spPr>
          <a:xfrm>
            <a:off x="7496280" y="2961000"/>
            <a:ext cx="1387080" cy="1254960"/>
          </a:xfrm>
          <a:prstGeom prst="straightConnector1">
            <a:avLst/>
          </a:prstGeom>
          <a:ln w="0">
            <a:solidFill>
              <a:srgbClr val="181717"/>
            </a:solidFill>
            <a:tailEnd type="triangle" w="med" len="med"/>
          </a:ln>
        </p:spPr>
      </p:cxnSp>
      <p:sp>
        <p:nvSpPr>
          <p:cNvPr id="2" name="PlaceHolder 1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2718320A-0214-431C-94CB-65C349EE293C}" type="slidenum">
              <a:rPr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761040" y="716400"/>
            <a:ext cx="10156320" cy="61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400" b="1" strike="noStrike" spc="-1">
                <a:solidFill>
                  <a:srgbClr val="024800"/>
                </a:solidFill>
                <a:latin typeface="Arial"/>
                <a:ea typeface="DejaVu Sans"/>
              </a:rPr>
              <a:t>General And Specific Objectives</a:t>
            </a:r>
            <a:endParaRPr lang="en-GB" sz="3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Rectangle: Rounded Corners 6"/>
          <p:cNvSpPr/>
          <p:nvPr/>
        </p:nvSpPr>
        <p:spPr>
          <a:xfrm>
            <a:off x="6580440" y="1373040"/>
            <a:ext cx="4681800" cy="1282680"/>
          </a:xfrm>
          <a:prstGeom prst="roundRect">
            <a:avLst>
              <a:gd name="adj" fmla="val 16667"/>
            </a:avLst>
          </a:prstGeom>
          <a:solidFill>
            <a:srgbClr val="FFF7F2"/>
          </a:solidFill>
          <a:ln>
            <a:solidFill>
              <a:srgbClr val="DCA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strike="noStrike" spc="-1">
                <a:solidFill>
                  <a:schemeClr val="lt2">
                    <a:lumMod val="10000"/>
                  </a:schemeClr>
                </a:solidFill>
                <a:latin typeface="Arial"/>
                <a:ea typeface="DejaVu Sans"/>
              </a:rPr>
              <a:t>To design an adaptive symptom assessment interface that dynamically selects relevant follow-up questions based on user responses.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Rectangle: Rounded Corners 7"/>
          <p:cNvSpPr/>
          <p:nvPr/>
        </p:nvSpPr>
        <p:spPr>
          <a:xfrm>
            <a:off x="6600240" y="2959920"/>
            <a:ext cx="4662000" cy="1272600"/>
          </a:xfrm>
          <a:prstGeom prst="roundRect">
            <a:avLst>
              <a:gd name="adj" fmla="val 16667"/>
            </a:avLst>
          </a:prstGeom>
          <a:solidFill>
            <a:srgbClr val="F3F6FF"/>
          </a:solidFill>
          <a:ln>
            <a:solidFill>
              <a:srgbClr val="00A9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0" strike="noStrike" spc="-1">
                <a:solidFill>
                  <a:schemeClr val="lt2">
                    <a:lumMod val="10000"/>
                  </a:schemeClr>
                </a:solidFill>
                <a:latin typeface="Arial"/>
                <a:ea typeface="DejaVu Sans"/>
              </a:rPr>
              <a:t>To train our machine learning models on 22 tropical and common diseases relevant to Ghanaians.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Rectangle: Rounded Corners 8"/>
          <p:cNvSpPr/>
          <p:nvPr/>
        </p:nvSpPr>
        <p:spPr>
          <a:xfrm>
            <a:off x="6576120" y="4584240"/>
            <a:ext cx="4685760" cy="1272600"/>
          </a:xfrm>
          <a:prstGeom prst="roundRect">
            <a:avLst>
              <a:gd name="adj" fmla="val 16667"/>
            </a:avLst>
          </a:prstGeom>
          <a:solidFill>
            <a:srgbClr val="F2F9F5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strike="noStrike" spc="-1">
                <a:solidFill>
                  <a:schemeClr val="lt2">
                    <a:lumMod val="10000"/>
                  </a:schemeClr>
                </a:solidFill>
                <a:latin typeface="Arial"/>
                <a:ea typeface="DejaVu Sans"/>
              </a:rPr>
              <a:t>To provide clear personalized recommendations, downloadable health reports.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lide Number Placeholder 2"/>
          <p:cNvSpPr/>
          <p:nvPr/>
        </p:nvSpPr>
        <p:spPr>
          <a:xfrm>
            <a:off x="11832840" y="5953680"/>
            <a:ext cx="352800" cy="89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just" defTabSz="914400">
              <a:lnSpc>
                <a:spcPct val="100000"/>
              </a:lnSpc>
            </a:pPr>
            <a:endParaRPr lang="en-GB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grpSp>
        <p:nvGrpSpPr>
          <p:cNvPr id="168" name="Group 3"/>
          <p:cNvGrpSpPr/>
          <p:nvPr/>
        </p:nvGrpSpPr>
        <p:grpSpPr>
          <a:xfrm>
            <a:off x="4136760" y="1495440"/>
            <a:ext cx="2471760" cy="1065240"/>
            <a:chOff x="4136760" y="1495440"/>
            <a:chExt cx="2471760" cy="1065240"/>
          </a:xfrm>
        </p:grpSpPr>
        <p:cxnSp>
          <p:nvCxnSpPr>
            <p:cNvPr id="169" name="Straight Connector 6"/>
            <p:cNvCxnSpPr/>
            <p:nvPr/>
          </p:nvCxnSpPr>
          <p:spPr>
            <a:xfrm flipV="1">
              <a:off x="4136760" y="2039040"/>
              <a:ext cx="536400" cy="459000"/>
            </a:xfrm>
            <a:prstGeom prst="straightConnector1">
              <a:avLst/>
            </a:prstGeom>
            <a:ln w="57150">
              <a:solidFill>
                <a:srgbClr val="171717"/>
              </a:solidFill>
              <a:round/>
            </a:ln>
          </p:spPr>
        </p:cxnSp>
        <p:cxnSp>
          <p:nvCxnSpPr>
            <p:cNvPr id="170" name="Straight Connector 7"/>
            <p:cNvCxnSpPr/>
            <p:nvPr/>
          </p:nvCxnSpPr>
          <p:spPr>
            <a:xfrm flipV="1">
              <a:off x="4650840" y="2023920"/>
              <a:ext cx="1811520" cy="24840"/>
            </a:xfrm>
            <a:prstGeom prst="straightConnector1">
              <a:avLst/>
            </a:prstGeom>
            <a:ln w="57150">
              <a:solidFill>
                <a:srgbClr val="171717"/>
              </a:solidFill>
              <a:round/>
            </a:ln>
          </p:spPr>
        </p:cxnSp>
        <p:sp>
          <p:nvSpPr>
            <p:cNvPr id="171" name="Freeform: Shape 4"/>
            <p:cNvSpPr/>
            <p:nvPr/>
          </p:nvSpPr>
          <p:spPr>
            <a:xfrm>
              <a:off x="6321960" y="1495440"/>
              <a:ext cx="286560" cy="1065240"/>
            </a:xfrm>
            <a:custGeom>
              <a:avLst/>
              <a:gdLst>
                <a:gd name="textAreaLeft" fmla="*/ 0 w 286560"/>
                <a:gd name="textAreaRight" fmla="*/ 292320 w 286560"/>
                <a:gd name="textAreaTop" fmla="*/ 0 h 1065240"/>
                <a:gd name="textAreaBottom" fmla="*/ 1071000 h 1065240"/>
              </a:gdLst>
              <a:ahLst/>
              <a:cxnLst/>
              <a:rect l="textAreaLeft" t="textAreaTop" r="textAreaRight" b="textAreaBottom"/>
              <a:pathLst>
                <a:path w="292193" h="1071033">
                  <a:moveTo>
                    <a:pt x="292193" y="0"/>
                  </a:moveTo>
                  <a:lnTo>
                    <a:pt x="292193" y="1071033"/>
                  </a:lnTo>
                  <a:lnTo>
                    <a:pt x="281706" y="1065340"/>
                  </a:lnTo>
                  <a:cubicBezTo>
                    <a:pt x="111745" y="950517"/>
                    <a:pt x="0" y="756066"/>
                    <a:pt x="0" y="535516"/>
                  </a:cubicBezTo>
                  <a:cubicBezTo>
                    <a:pt x="0" y="314966"/>
                    <a:pt x="111745" y="120515"/>
                    <a:pt x="281706" y="5692"/>
                  </a:cubicBezTo>
                  <a:close/>
                </a:path>
              </a:pathLst>
            </a:custGeom>
            <a:solidFill>
              <a:srgbClr val="FFC000"/>
            </a:solidFill>
            <a:ln w="57150">
              <a:noFill/>
            </a:ln>
            <a:effectLst>
              <a:outerShdw blurRad="63360" sx="102000" sy="1020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Arial"/>
                <a:ea typeface="DejaVu Sans"/>
              </a:endParaRPr>
            </a:p>
          </p:txBody>
        </p:sp>
        <p:sp>
          <p:nvSpPr>
            <p:cNvPr id="172" name="Rectangle 3"/>
            <p:cNvSpPr/>
            <p:nvPr/>
          </p:nvSpPr>
          <p:spPr>
            <a:xfrm>
              <a:off x="6175080" y="1554120"/>
              <a:ext cx="178920" cy="917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5400" b="0" strike="noStrike" spc="-1">
                <a:solidFill>
                  <a:srgbClr val="FF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173" name="Group 4"/>
          <p:cNvGrpSpPr/>
          <p:nvPr/>
        </p:nvGrpSpPr>
        <p:grpSpPr>
          <a:xfrm>
            <a:off x="4761360" y="3073680"/>
            <a:ext cx="1838880" cy="1065240"/>
            <a:chOff x="4761360" y="3073680"/>
            <a:chExt cx="1861920" cy="1065240"/>
          </a:xfrm>
        </p:grpSpPr>
        <p:cxnSp>
          <p:nvCxnSpPr>
            <p:cNvPr id="174" name="Straight Connector 8"/>
            <p:cNvCxnSpPr>
              <a:endCxn id="175" idx="3"/>
            </p:cNvCxnSpPr>
            <p:nvPr/>
          </p:nvCxnSpPr>
          <p:spPr>
            <a:xfrm flipV="1">
              <a:off x="4761360" y="3606120"/>
              <a:ext cx="1862280" cy="8280"/>
            </a:xfrm>
            <a:prstGeom prst="straightConnector1">
              <a:avLst/>
            </a:prstGeom>
            <a:ln w="57150">
              <a:solidFill>
                <a:srgbClr val="171717"/>
              </a:solidFill>
              <a:round/>
            </a:ln>
          </p:spPr>
        </p:cxnSp>
        <p:sp>
          <p:nvSpPr>
            <p:cNvPr id="175" name="Freeform: Shape 5"/>
            <p:cNvSpPr/>
            <p:nvPr/>
          </p:nvSpPr>
          <p:spPr>
            <a:xfrm>
              <a:off x="6336720" y="3073680"/>
              <a:ext cx="286560" cy="1065240"/>
            </a:xfrm>
            <a:custGeom>
              <a:avLst/>
              <a:gdLst>
                <a:gd name="textAreaLeft" fmla="*/ 0 w 286560"/>
                <a:gd name="textAreaRight" fmla="*/ 292320 w 286560"/>
                <a:gd name="textAreaTop" fmla="*/ 0 h 1065240"/>
                <a:gd name="textAreaBottom" fmla="*/ 1071000 h 1065240"/>
              </a:gdLst>
              <a:ahLst/>
              <a:cxnLst/>
              <a:rect l="textAreaLeft" t="textAreaTop" r="textAreaRight" b="textAreaBottom"/>
              <a:pathLst>
                <a:path w="292193" h="1071033">
                  <a:moveTo>
                    <a:pt x="292193" y="0"/>
                  </a:moveTo>
                  <a:lnTo>
                    <a:pt x="292193" y="1071033"/>
                  </a:lnTo>
                  <a:lnTo>
                    <a:pt x="281706" y="1065340"/>
                  </a:lnTo>
                  <a:cubicBezTo>
                    <a:pt x="111745" y="950517"/>
                    <a:pt x="0" y="756066"/>
                    <a:pt x="0" y="535516"/>
                  </a:cubicBezTo>
                  <a:cubicBezTo>
                    <a:pt x="0" y="314966"/>
                    <a:pt x="111745" y="120515"/>
                    <a:pt x="281706" y="5692"/>
                  </a:cubicBezTo>
                  <a:close/>
                </a:path>
              </a:pathLst>
            </a:custGeom>
            <a:solidFill>
              <a:srgbClr val="00B0F0"/>
            </a:solidFill>
            <a:ln w="57150">
              <a:noFill/>
            </a:ln>
            <a:effectLst>
              <a:outerShdw blurRad="63360" sx="102000" sy="1020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Arial"/>
                <a:ea typeface="DejaVu Sans"/>
              </a:endParaRPr>
            </a:p>
          </p:txBody>
        </p:sp>
      </p:grpSp>
      <p:cxnSp>
        <p:nvCxnSpPr>
          <p:cNvPr id="176" name="Straight Connector 9"/>
          <p:cNvCxnSpPr/>
          <p:nvPr/>
        </p:nvCxnSpPr>
        <p:spPr>
          <a:xfrm>
            <a:off x="4136040" y="4798080"/>
            <a:ext cx="536760" cy="459360"/>
          </a:xfrm>
          <a:prstGeom prst="straightConnector1">
            <a:avLst/>
          </a:prstGeom>
          <a:ln w="57150">
            <a:solidFill>
              <a:srgbClr val="171717"/>
            </a:solidFill>
            <a:round/>
          </a:ln>
        </p:spPr>
      </p:cxnSp>
      <p:cxnSp>
        <p:nvCxnSpPr>
          <p:cNvPr id="177" name="Straight Connector 10"/>
          <p:cNvCxnSpPr/>
          <p:nvPr/>
        </p:nvCxnSpPr>
        <p:spPr>
          <a:xfrm>
            <a:off x="4650120" y="5249160"/>
            <a:ext cx="1672200" cy="10080"/>
          </a:xfrm>
          <a:prstGeom prst="straightConnector1">
            <a:avLst/>
          </a:prstGeom>
          <a:ln w="57150">
            <a:solidFill>
              <a:srgbClr val="171717"/>
            </a:solidFill>
            <a:round/>
          </a:ln>
        </p:spPr>
      </p:cxnSp>
      <p:sp>
        <p:nvSpPr>
          <p:cNvPr id="178" name="Oval 3"/>
          <p:cNvSpPr/>
          <p:nvPr/>
        </p:nvSpPr>
        <p:spPr>
          <a:xfrm>
            <a:off x="797040" y="1701720"/>
            <a:ext cx="4106160" cy="3968280"/>
          </a:xfrm>
          <a:prstGeom prst="ellipse">
            <a:avLst/>
          </a:prstGeom>
          <a:solidFill>
            <a:schemeClr val="bg1"/>
          </a:solidFill>
          <a:ln w="57150">
            <a:solidFill>
              <a:srgbClr val="C04F15"/>
            </a:solidFill>
          </a:ln>
          <a:effectLst>
            <a:outerShdw blurRad="63360" sx="102000" sy="102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179" name="Oval 4"/>
          <p:cNvSpPr/>
          <p:nvPr/>
        </p:nvSpPr>
        <p:spPr>
          <a:xfrm>
            <a:off x="982440" y="1880640"/>
            <a:ext cx="3762360" cy="362556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6C6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GB" sz="1800" b="0" strike="noStrike" spc="-1" dirty="0">
                <a:solidFill>
                  <a:schemeClr val="lt2">
                    <a:lumMod val="10000"/>
                  </a:schemeClr>
                </a:solidFill>
                <a:latin typeface="Arial"/>
                <a:ea typeface="DejaVu Sans"/>
              </a:rPr>
              <a:t>To develop an AI-powered symptom assessment platform that enables individuals to communicate their symptoms, receive early tropical disease risk predictions, and access personalized health guidance.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Freeform: Shape 6"/>
          <p:cNvSpPr/>
          <p:nvPr/>
        </p:nvSpPr>
        <p:spPr>
          <a:xfrm>
            <a:off x="6316920" y="4707360"/>
            <a:ext cx="286560" cy="1065240"/>
          </a:xfrm>
          <a:custGeom>
            <a:avLst/>
            <a:gdLst>
              <a:gd name="textAreaLeft" fmla="*/ 0 w 286560"/>
              <a:gd name="textAreaRight" fmla="*/ 292320 w 286560"/>
              <a:gd name="textAreaTop" fmla="*/ 0 h 1065240"/>
              <a:gd name="textAreaBottom" fmla="*/ 1071000 h 1065240"/>
            </a:gdLst>
            <a:ahLst/>
            <a:cxnLst/>
            <a:rect l="textAreaLeft" t="textAreaTop" r="textAreaRight" b="textAreaBottom"/>
            <a:pathLst>
              <a:path w="292193" h="1071033">
                <a:moveTo>
                  <a:pt x="292193" y="0"/>
                </a:moveTo>
                <a:lnTo>
                  <a:pt x="292193" y="1071033"/>
                </a:lnTo>
                <a:lnTo>
                  <a:pt x="281706" y="1065340"/>
                </a:lnTo>
                <a:cubicBezTo>
                  <a:pt x="111745" y="950517"/>
                  <a:pt x="0" y="756066"/>
                  <a:pt x="0" y="535516"/>
                </a:cubicBezTo>
                <a:cubicBezTo>
                  <a:pt x="0" y="314966"/>
                  <a:pt x="111745" y="120515"/>
                  <a:pt x="281706" y="5692"/>
                </a:cubicBezTo>
                <a:close/>
              </a:path>
            </a:pathLst>
          </a:custGeom>
          <a:solidFill>
            <a:srgbClr val="00B050"/>
          </a:solidFill>
          <a:ln w="57150">
            <a:noFill/>
          </a:ln>
          <a:effectLst>
            <a:outerShdw blurRad="63360" sx="102000" sy="102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181" name="Slide Number Placeholder 1"/>
          <p:cNvSpPr/>
          <p:nvPr/>
        </p:nvSpPr>
        <p:spPr>
          <a:xfrm>
            <a:off x="11184120" y="5853600"/>
            <a:ext cx="2010240" cy="34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Kanit"/>
                <a:ea typeface="DejaVu Sans"/>
              </a:rPr>
              <a:t>5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A3DA1F2D-9C10-4B5A-B36B-3F72A3F30445}" type="slidenum">
              <a:rPr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0"/>
          <p:cNvSpPr/>
          <p:nvPr/>
        </p:nvSpPr>
        <p:spPr>
          <a:xfrm>
            <a:off x="792000" y="675000"/>
            <a:ext cx="10182600" cy="52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GB" sz="3400" b="1" strike="noStrike" spc="-1">
                <a:solidFill>
                  <a:srgbClr val="014701"/>
                </a:solidFill>
                <a:latin typeface="Arial"/>
                <a:ea typeface="Tahoma"/>
              </a:rPr>
              <a:t>The 22 Diseases and Their Risk Classification</a:t>
            </a:r>
            <a:endParaRPr lang="en-GB" sz="3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ectangle 133"/>
          <p:cNvSpPr/>
          <p:nvPr/>
        </p:nvSpPr>
        <p:spPr>
          <a:xfrm>
            <a:off x="11160000" y="5812920"/>
            <a:ext cx="38156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1E21554D-A078-41C8-8DE0-7AC937E9C137}" type="slidenum">
              <a:rPr lang="en-GB" sz="1800" b="0" strike="noStrike" spc="-1">
                <a:solidFill>
                  <a:srgbClr val="000000"/>
                </a:solidFill>
                <a:latin typeface="Kanit"/>
                <a:ea typeface="DejaVu Sans"/>
              </a:rPr>
              <a:t>6</a:t>
            </a:fld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Picture 182"/>
          <p:cNvPicPr/>
          <p:nvPr/>
        </p:nvPicPr>
        <p:blipFill>
          <a:blip r:embed="rId2"/>
          <a:stretch/>
        </p:blipFill>
        <p:spPr>
          <a:xfrm>
            <a:off x="900000" y="1204200"/>
            <a:ext cx="10255320" cy="502884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0B1ECF11-F9D3-41D9-BD77-2E2265061724}" type="slidenum">
              <a:rPr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2"/>
          <p:cNvSpPr/>
          <p:nvPr/>
        </p:nvSpPr>
        <p:spPr>
          <a:xfrm>
            <a:off x="721440" y="633240"/>
            <a:ext cx="10068840" cy="53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GB" sz="3400" b="1" strike="noStrike" spc="-1">
                <a:solidFill>
                  <a:srgbClr val="014701"/>
                </a:solidFill>
                <a:latin typeface="Arial"/>
                <a:ea typeface="Tahoma"/>
              </a:rPr>
              <a:t>Dataset</a:t>
            </a:r>
            <a:endParaRPr lang="en-GB" sz="34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6" name="Table 4"/>
          <p:cNvGraphicFramePr/>
          <p:nvPr/>
        </p:nvGraphicFramePr>
        <p:xfrm>
          <a:off x="639000" y="1096200"/>
          <a:ext cx="5134320" cy="4716720"/>
        </p:xfrm>
        <a:graphic>
          <a:graphicData uri="http://schemas.openxmlformats.org/drawingml/2006/table">
            <a:tbl>
              <a:tblPr/>
              <a:tblGrid>
                <a:gridCol w="513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16720">
                <a:tc>
                  <a:txBody>
                    <a:bodyPr/>
                    <a:lstStyle/>
                    <a:p>
                      <a:pPr marL="285840" indent="-285840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buClr>
                          <a:srgbClr val="181717"/>
                        </a:buClr>
                        <a:buFont typeface="Wingdings" charset="2"/>
                        <a:buChar char=""/>
                      </a:pPr>
                      <a:r>
                        <a:rPr lang="en-US" sz="2000" b="0" strike="noStrike" spc="-1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Data obtained from Kaggle and 4,924 patient verified medical records.</a:t>
                      </a:r>
                      <a:endParaRPr lang="en-GB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lang="en-GB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181717"/>
                        </a:buClr>
                        <a:buFont typeface="Wingdings" charset="2"/>
                        <a:buChar char=""/>
                      </a:pPr>
                      <a:r>
                        <a:rPr lang="en-US" sz="2000" b="0" strike="noStrike" spc="-1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The dataset contains symptom-disease relationships of 22 target diseases.</a:t>
                      </a:r>
                      <a:endParaRPr lang="en-GB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lang="en-GB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181717"/>
                        </a:buClr>
                        <a:buFont typeface="Wingdings" charset="2"/>
                        <a:buChar char=""/>
                      </a:pPr>
                      <a:r>
                        <a:rPr lang="en-US" sz="2000" b="0" strike="noStrike" spc="-1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Symptoms encoded as binary values, </a:t>
                      </a:r>
                      <a:endParaRPr lang="en-GB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0" strike="noStrike" spc="-1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1 for Yes and 0 for No.</a:t>
                      </a:r>
                      <a:endParaRPr lang="en-GB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GB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181717"/>
                        </a:buClr>
                        <a:buFont typeface="Wingdings" charset="2"/>
                        <a:buChar char=""/>
                        <a:tabLst>
                          <a:tab pos="0" algn="l"/>
                        </a:tabLst>
                      </a:pPr>
                      <a:r>
                        <a:rPr lang="en-US" sz="2000" b="0" strike="noStrike" spc="-1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It is structured dataset suitable for </a:t>
                      </a:r>
                      <a:endParaRPr lang="en-GB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0" strike="noStrike" spc="-1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machine learning.</a:t>
                      </a:r>
                      <a:endParaRPr lang="en-GB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7" name="Rectangle 133"/>
          <p:cNvSpPr/>
          <p:nvPr/>
        </p:nvSpPr>
        <p:spPr>
          <a:xfrm>
            <a:off x="11160000" y="5812920"/>
            <a:ext cx="38156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C6100019-9B5E-450B-88F6-79141B28FF5D}" type="slidenum">
              <a:rPr lang="en-GB" sz="1800" b="0" strike="noStrike" spc="-1">
                <a:solidFill>
                  <a:srgbClr val="000000"/>
                </a:solidFill>
                <a:latin typeface="Kanit"/>
                <a:ea typeface="DejaVu Sans"/>
              </a:rPr>
              <a:t>7</a:t>
            </a:fld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8" name="Picture 2"/>
          <p:cNvPicPr/>
          <p:nvPr/>
        </p:nvPicPr>
        <p:blipFill>
          <a:blip r:embed="rId2"/>
          <a:srcRect r="1755"/>
          <a:stretch/>
        </p:blipFill>
        <p:spPr>
          <a:xfrm>
            <a:off x="5773320" y="1096200"/>
            <a:ext cx="5695200" cy="1031400"/>
          </a:xfrm>
          <a:prstGeom prst="rect">
            <a:avLst/>
          </a:prstGeom>
          <a:ln w="0">
            <a:noFill/>
          </a:ln>
        </p:spPr>
      </p:pic>
      <p:pic>
        <p:nvPicPr>
          <p:cNvPr id="189" name="Picture 6"/>
          <p:cNvPicPr/>
          <p:nvPr/>
        </p:nvPicPr>
        <p:blipFill>
          <a:blip r:embed="rId3"/>
          <a:stretch/>
        </p:blipFill>
        <p:spPr>
          <a:xfrm>
            <a:off x="5773320" y="2131200"/>
            <a:ext cx="5695200" cy="366732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8FA231EF-0638-4C23-8B73-EDB764502ED6}" type="slidenum">
              <a:rPr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3"/>
          <p:cNvSpPr/>
          <p:nvPr/>
        </p:nvSpPr>
        <p:spPr>
          <a:xfrm>
            <a:off x="720000" y="698400"/>
            <a:ext cx="10205640" cy="53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GB" sz="3400" b="1" strike="noStrike" spc="-1">
                <a:solidFill>
                  <a:srgbClr val="014701"/>
                </a:solidFill>
                <a:latin typeface="Arial"/>
                <a:ea typeface="Tahoma"/>
              </a:rPr>
              <a:t>Dataset</a:t>
            </a:r>
            <a:endParaRPr lang="en-GB" sz="3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Rectangle 133"/>
          <p:cNvSpPr/>
          <p:nvPr/>
        </p:nvSpPr>
        <p:spPr>
          <a:xfrm>
            <a:off x="11160000" y="5812920"/>
            <a:ext cx="38156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98DE1106-CC6E-4482-8CDD-CC0F50D48263}" type="slidenum">
              <a:rPr lang="en-GB" sz="1800" b="0" strike="noStrike" spc="-1">
                <a:solidFill>
                  <a:srgbClr val="000000"/>
                </a:solidFill>
                <a:latin typeface="Kanit"/>
                <a:ea typeface="DejaVu Sans"/>
              </a:rPr>
              <a:t>8</a:t>
            </a:fld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2" name="Picture 191"/>
          <p:cNvPicPr/>
          <p:nvPr/>
        </p:nvPicPr>
        <p:blipFill>
          <a:blip r:embed="rId2"/>
          <a:stretch/>
        </p:blipFill>
        <p:spPr>
          <a:xfrm>
            <a:off x="952920" y="1233720"/>
            <a:ext cx="10205640" cy="488484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A0141C39-9BF1-4C9A-B5E2-5DB1148173A2}" type="slidenum">
              <a:rPr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4"/>
          <p:cNvSpPr/>
          <p:nvPr/>
        </p:nvSpPr>
        <p:spPr>
          <a:xfrm>
            <a:off x="727920" y="657720"/>
            <a:ext cx="10068840" cy="53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GB" sz="3400" b="1" strike="noStrike" spc="-1">
                <a:solidFill>
                  <a:srgbClr val="014701"/>
                </a:solidFill>
                <a:latin typeface="Arial"/>
                <a:ea typeface="Tahoma"/>
              </a:rPr>
              <a:t>Dataset</a:t>
            </a:r>
            <a:endParaRPr lang="en-GB" sz="3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Rectangle 133"/>
          <p:cNvSpPr/>
          <p:nvPr/>
        </p:nvSpPr>
        <p:spPr>
          <a:xfrm>
            <a:off x="11160000" y="5812920"/>
            <a:ext cx="38156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F7000231-38AF-487C-BCE5-30889DA2E204}" type="slidenum">
              <a:rPr lang="en-GB" sz="1800" b="0" strike="noStrike" spc="-1">
                <a:solidFill>
                  <a:srgbClr val="000000"/>
                </a:solidFill>
                <a:latin typeface="Kanit"/>
                <a:ea typeface="DejaVu Sans"/>
              </a:rPr>
              <a:t>9</a:t>
            </a:fld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5" name="Picture 194"/>
          <p:cNvPicPr/>
          <p:nvPr/>
        </p:nvPicPr>
        <p:blipFill>
          <a:blip r:embed="rId2"/>
          <a:stretch/>
        </p:blipFill>
        <p:spPr>
          <a:xfrm>
            <a:off x="900000" y="1193040"/>
            <a:ext cx="10258560" cy="492552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C026D0DA-33C5-4135-957B-7389F35825B2}" type="slidenum">
              <a:rPr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2"/>
          <p:cNvSpPr/>
          <p:nvPr/>
        </p:nvSpPr>
        <p:spPr>
          <a:xfrm>
            <a:off x="856800" y="698400"/>
            <a:ext cx="10068840" cy="53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GB" sz="3400" b="1" strike="noStrike" spc="-1">
                <a:solidFill>
                  <a:srgbClr val="014701"/>
                </a:solidFill>
                <a:latin typeface="Arial"/>
                <a:ea typeface="Tahoma"/>
              </a:rPr>
              <a:t>Model Development</a:t>
            </a:r>
            <a:endParaRPr lang="en-GB" sz="3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Rectangle 133"/>
          <p:cNvSpPr/>
          <p:nvPr/>
        </p:nvSpPr>
        <p:spPr>
          <a:xfrm>
            <a:off x="11123280" y="5812920"/>
            <a:ext cx="38156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80DA74F5-6D24-4AF2-9641-F2B27BA3CC28}" type="slidenum">
              <a:rPr lang="en-GB" sz="1800" b="0" strike="noStrike" spc="-1">
                <a:solidFill>
                  <a:srgbClr val="000000"/>
                </a:solidFill>
                <a:latin typeface="Kanit"/>
                <a:ea typeface="DejaVu Sans"/>
              </a:rPr>
              <a:t>10</a:t>
            </a:fld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8" name="Picture 197"/>
          <p:cNvPicPr/>
          <p:nvPr/>
        </p:nvPicPr>
        <p:blipFill>
          <a:blip r:embed="rId2"/>
          <a:srcRect l="1231" t="4710" r="1327" b="19526"/>
          <a:stretch/>
        </p:blipFill>
        <p:spPr>
          <a:xfrm>
            <a:off x="856800" y="1260000"/>
            <a:ext cx="10301400" cy="485784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C0AB3CFE-7B08-40BE-9DAA-A6E0A19FA801}" type="slidenum">
              <a:rPr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8"/>
          <p:cNvSpPr/>
          <p:nvPr/>
        </p:nvSpPr>
        <p:spPr>
          <a:xfrm>
            <a:off x="856080" y="698040"/>
            <a:ext cx="9094320" cy="53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GB" sz="3400" b="1" strike="noStrike" spc="-1">
                <a:solidFill>
                  <a:srgbClr val="014701"/>
                </a:solidFill>
                <a:latin typeface="Arial"/>
                <a:ea typeface="Tahoma"/>
              </a:rPr>
              <a:t>Model Evaluation Results</a:t>
            </a:r>
            <a:endParaRPr lang="en-GB" sz="3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Rectangle 133"/>
          <p:cNvSpPr/>
          <p:nvPr/>
        </p:nvSpPr>
        <p:spPr>
          <a:xfrm>
            <a:off x="11160000" y="5812920"/>
            <a:ext cx="38156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57AD3600-E5F0-43F4-B365-2F4A9DEC5D3A}" type="slidenum">
              <a:rPr lang="en-GB" sz="1800" b="0" strike="noStrike" spc="-1">
                <a:solidFill>
                  <a:srgbClr val="000000"/>
                </a:solidFill>
                <a:latin typeface="Kanit"/>
                <a:ea typeface="DejaVu Sans"/>
              </a:rPr>
              <a:t>11</a:t>
            </a:fld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1" name="Picture 200"/>
          <p:cNvPicPr/>
          <p:nvPr/>
        </p:nvPicPr>
        <p:blipFill>
          <a:blip r:embed="rId2"/>
          <a:srcRect t="6628" r="1785"/>
          <a:stretch/>
        </p:blipFill>
        <p:spPr>
          <a:xfrm>
            <a:off x="1080000" y="1234440"/>
            <a:ext cx="9897840" cy="488376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70F18039-89F5-4B4D-9F5B-D59D783F4DE9}" type="slidenum">
              <a:rPr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4"/>
          <p:cNvSpPr/>
          <p:nvPr/>
        </p:nvSpPr>
        <p:spPr>
          <a:xfrm>
            <a:off x="856080" y="698040"/>
            <a:ext cx="9094320" cy="53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GB" sz="3400" b="1" strike="noStrike" spc="-1">
                <a:solidFill>
                  <a:srgbClr val="014701"/>
                </a:solidFill>
                <a:latin typeface="Arial"/>
                <a:ea typeface="Tahoma"/>
              </a:rPr>
              <a:t>Testing and Evaluation</a:t>
            </a:r>
            <a:endParaRPr lang="en-GB" sz="3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3" name="Picture 202"/>
          <p:cNvPicPr/>
          <p:nvPr/>
        </p:nvPicPr>
        <p:blipFill>
          <a:blip r:embed="rId2"/>
          <a:stretch/>
        </p:blipFill>
        <p:spPr>
          <a:xfrm>
            <a:off x="900000" y="1260000"/>
            <a:ext cx="10258560" cy="4858560"/>
          </a:xfrm>
          <a:prstGeom prst="rect">
            <a:avLst/>
          </a:prstGeom>
          <a:ln w="0">
            <a:noFill/>
          </a:ln>
        </p:spPr>
      </p:pic>
      <p:sp>
        <p:nvSpPr>
          <p:cNvPr id="204" name="Rectangle 133"/>
          <p:cNvSpPr/>
          <p:nvPr/>
        </p:nvSpPr>
        <p:spPr>
          <a:xfrm>
            <a:off x="11151000" y="5892480"/>
            <a:ext cx="38156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8D275638-6329-4440-B551-D1E3C4AE2A5A}" type="slidenum">
              <a:rPr lang="en-GB" sz="1800" b="0" strike="noStrike" spc="-1">
                <a:solidFill>
                  <a:srgbClr val="000000"/>
                </a:solidFill>
                <a:latin typeface="Kanit"/>
                <a:ea typeface="DejaVu Sans"/>
              </a:rPr>
              <a:t>12</a:t>
            </a:fld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A0A643AE-B82E-43A1-B0AB-58E6BD1C69EA}" type="slidenum">
              <a:rPr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2"/>
          <p:cNvSpPr/>
          <p:nvPr/>
        </p:nvSpPr>
        <p:spPr>
          <a:xfrm>
            <a:off x="856080" y="698040"/>
            <a:ext cx="9094320" cy="53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GB" sz="3400" b="1" strike="noStrike" spc="-1">
                <a:solidFill>
                  <a:srgbClr val="014701"/>
                </a:solidFill>
                <a:latin typeface="Arial"/>
                <a:ea typeface="Tahoma"/>
              </a:rPr>
              <a:t>Adaptive Questioning Mechanism</a:t>
            </a:r>
            <a:endParaRPr lang="en-GB" sz="3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Rectangle 191"/>
          <p:cNvSpPr/>
          <p:nvPr/>
        </p:nvSpPr>
        <p:spPr>
          <a:xfrm>
            <a:off x="856080" y="1440000"/>
            <a:ext cx="4543200" cy="424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"/>
            </a:pPr>
            <a:r>
              <a:rPr lang="en-GB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You answer a question Yes or No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"/>
            </a:pPr>
            <a:r>
              <a:rPr lang="en-GB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Every disease gets a score each Yes on a known symptom adds points, each No removes a few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"/>
            </a:pPr>
            <a:r>
              <a:rPr lang="en-GB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The top 6 highest-scoring diseases become the focus the next question is pulled from whichever of those 6 still has unanswered symptoms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"/>
            </a:pPr>
            <a:r>
              <a:rPr lang="en-GB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This repeats up to 15 questions then the system predicts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Rectangle 133"/>
          <p:cNvSpPr/>
          <p:nvPr/>
        </p:nvSpPr>
        <p:spPr>
          <a:xfrm>
            <a:off x="11160000" y="5812920"/>
            <a:ext cx="38156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4B1913A3-FF26-4FB5-BB2E-32AD812626EF}" type="slidenum">
              <a:rPr lang="en-GB" sz="1800" b="0" strike="noStrike" spc="-1">
                <a:solidFill>
                  <a:srgbClr val="000000"/>
                </a:solidFill>
                <a:latin typeface="Kanit"/>
                <a:ea typeface="DejaVu Sans"/>
              </a:rPr>
              <a:t>13</a:t>
            </a:fld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1" name="Picture 212"/>
          <p:cNvPicPr/>
          <p:nvPr/>
        </p:nvPicPr>
        <p:blipFill>
          <a:blip r:embed="rId2"/>
          <a:stretch/>
        </p:blipFill>
        <p:spPr>
          <a:xfrm>
            <a:off x="5400000" y="1440000"/>
            <a:ext cx="5759280" cy="424944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54C45B51-1DE9-4CEA-AA2C-F1F23C6AFCAA}" type="slidenum">
              <a:rPr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5"/>
          <p:cNvSpPr/>
          <p:nvPr/>
        </p:nvSpPr>
        <p:spPr>
          <a:xfrm>
            <a:off x="856080" y="698040"/>
            <a:ext cx="9402480" cy="53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GB" sz="3400" b="1" strike="noStrike" spc="-1">
                <a:solidFill>
                  <a:srgbClr val="014701"/>
                </a:solidFill>
                <a:latin typeface="Arial"/>
                <a:ea typeface="Tahoma"/>
              </a:rPr>
              <a:t>Confidence Evolution</a:t>
            </a:r>
            <a:endParaRPr lang="en-GB" sz="3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Rectangle 133"/>
          <p:cNvSpPr/>
          <p:nvPr/>
        </p:nvSpPr>
        <p:spPr>
          <a:xfrm>
            <a:off x="11160000" y="5812920"/>
            <a:ext cx="38156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0D33BA35-DE90-49D2-8C66-BB217082BF02}" type="slidenum">
              <a:rPr lang="en-GB" sz="1800" b="0" strike="noStrike" spc="-1">
                <a:solidFill>
                  <a:srgbClr val="000000"/>
                </a:solidFill>
                <a:latin typeface="Kanit"/>
                <a:ea typeface="DejaVu Sans"/>
              </a:rPr>
              <a:t>14</a:t>
            </a:fld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7" name="Picture 203"/>
          <p:cNvPicPr/>
          <p:nvPr/>
        </p:nvPicPr>
        <p:blipFill>
          <a:blip r:embed="rId2"/>
          <a:stretch/>
        </p:blipFill>
        <p:spPr>
          <a:xfrm>
            <a:off x="1080000" y="1260000"/>
            <a:ext cx="10078200" cy="490716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7D3CB533-7033-4459-9949-0421983EE842}" type="slidenum">
              <a:rPr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133"/>
          <p:cNvSpPr/>
          <p:nvPr/>
        </p:nvSpPr>
        <p:spPr>
          <a:xfrm>
            <a:off x="11160000" y="5812920"/>
            <a:ext cx="38156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45C7BDC8-ECD0-4CAE-96E6-54087F79A6B7}" type="slidenum">
              <a:rPr lang="en-GB" sz="1800" b="0" strike="noStrike" spc="-1">
                <a:solidFill>
                  <a:srgbClr val="000000"/>
                </a:solidFill>
                <a:latin typeface="Kanit"/>
                <a:ea typeface="DejaVu Sans"/>
              </a:rPr>
              <a:t>15</a:t>
            </a:fld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2"/>
          <p:cNvSpPr/>
          <p:nvPr/>
        </p:nvSpPr>
        <p:spPr>
          <a:xfrm>
            <a:off x="856080" y="698040"/>
            <a:ext cx="9094320" cy="53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GB" sz="3400" b="1" strike="noStrike" spc="-1">
                <a:solidFill>
                  <a:srgbClr val="014701"/>
                </a:solidFill>
                <a:latin typeface="Arial"/>
                <a:ea typeface="Tahoma"/>
              </a:rPr>
              <a:t>Ethical Considerations</a:t>
            </a:r>
            <a:endParaRPr lang="en-GB" sz="34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14" name="Table 7"/>
          <p:cNvGraphicFramePr/>
          <p:nvPr/>
        </p:nvGraphicFramePr>
        <p:xfrm>
          <a:off x="688320" y="1464480"/>
          <a:ext cx="5407560" cy="4083120"/>
        </p:xfrm>
        <a:graphic>
          <a:graphicData uri="http://schemas.openxmlformats.org/drawingml/2006/table">
            <a:tbl>
              <a:tblPr/>
              <a:tblGrid>
                <a:gridCol w="5407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83120">
                <a:tc>
                  <a:txBody>
                    <a:bodyPr/>
                    <a:lstStyle/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181717"/>
                        </a:buClr>
                        <a:buFont typeface="Wingdings" charset="2"/>
                        <a:buChar char=""/>
                      </a:pPr>
                      <a:r>
                        <a:rPr lang="en-US" sz="2000" b="0" strike="noStrike" spc="-1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The system does not present its predictions as confirmed diagnoses rather it recommends further tests for confirmation.</a:t>
                      </a:r>
                      <a:endParaRPr lang="en-GB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GB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181717"/>
                        </a:buClr>
                        <a:buFont typeface="Wingdings" charset="2"/>
                        <a:buChar char=""/>
                        <a:tabLst>
                          <a:tab pos="0" algn="l"/>
                        </a:tabLst>
                      </a:pPr>
                      <a:r>
                        <a:rPr lang="en-US" sz="2000" b="0" strike="noStrike" spc="-1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Dataset was verified and cross-checked against the WHO fact sheet and patient-verified medical records.</a:t>
                      </a:r>
                      <a:endParaRPr lang="en-GB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GB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181717"/>
                        </a:buClr>
                        <a:buFont typeface="Wingdings" charset="2"/>
                        <a:buChar char=""/>
                        <a:tabLst>
                          <a:tab pos="0" algn="l"/>
                        </a:tabLst>
                      </a:pPr>
                      <a:r>
                        <a:rPr lang="en-US" sz="2000" b="0" strike="noStrike" spc="-1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Recommendations are aligned with the </a:t>
                      </a:r>
                      <a:r>
                        <a:rPr lang="en-US" sz="2000" b="1" strike="noStrike" spc="-1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Ghana Standard Treatment Guidelines</a:t>
                      </a:r>
                      <a:r>
                        <a:rPr lang="en-US" sz="2000" b="0" strike="noStrike" spc="-1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 and are intended as guidance rather than a replacement for professional medical advice.</a:t>
                      </a:r>
                      <a:endParaRPr lang="en-GB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15" name="Picture 9"/>
          <p:cNvPicPr/>
          <p:nvPr/>
        </p:nvPicPr>
        <p:blipFill>
          <a:blip r:embed="rId2"/>
          <a:stretch/>
        </p:blipFill>
        <p:spPr>
          <a:xfrm>
            <a:off x="6095880" y="1695240"/>
            <a:ext cx="5063400" cy="36208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1"/>
          <p:cNvSpPr/>
          <p:nvPr/>
        </p:nvSpPr>
        <p:spPr>
          <a:xfrm>
            <a:off x="856080" y="697680"/>
            <a:ext cx="4771440" cy="53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GB" sz="3400" b="1" strike="noStrike" spc="-1">
                <a:solidFill>
                  <a:srgbClr val="014701"/>
                </a:solidFill>
                <a:latin typeface="Arial"/>
                <a:ea typeface="Tahoma"/>
              </a:rPr>
              <a:t>Tools &amp; Technology</a:t>
            </a:r>
            <a:endParaRPr lang="en-GB" sz="3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5" name="Picture 9"/>
          <p:cNvPicPr/>
          <p:nvPr/>
        </p:nvPicPr>
        <p:blipFill>
          <a:blip r:embed="rId2"/>
          <a:stretch/>
        </p:blipFill>
        <p:spPr>
          <a:xfrm>
            <a:off x="706320" y="1440000"/>
            <a:ext cx="2469240" cy="1798560"/>
          </a:xfrm>
          <a:prstGeom prst="rect">
            <a:avLst/>
          </a:prstGeom>
          <a:ln w="0">
            <a:noFill/>
          </a:ln>
        </p:spPr>
      </p:pic>
      <p:pic>
        <p:nvPicPr>
          <p:cNvPr id="216" name="Picture 11"/>
          <p:cNvPicPr/>
          <p:nvPr/>
        </p:nvPicPr>
        <p:blipFill>
          <a:blip r:embed="rId3"/>
          <a:stretch/>
        </p:blipFill>
        <p:spPr>
          <a:xfrm>
            <a:off x="5040000" y="1800000"/>
            <a:ext cx="2645280" cy="715680"/>
          </a:xfrm>
          <a:prstGeom prst="rect">
            <a:avLst/>
          </a:prstGeom>
          <a:ln w="0">
            <a:noFill/>
          </a:ln>
        </p:spPr>
      </p:pic>
      <p:pic>
        <p:nvPicPr>
          <p:cNvPr id="217" name="Picture 12"/>
          <p:cNvPicPr/>
          <p:nvPr/>
        </p:nvPicPr>
        <p:blipFill>
          <a:blip r:embed="rId4"/>
          <a:stretch/>
        </p:blipFill>
        <p:spPr>
          <a:xfrm>
            <a:off x="1789200" y="3999960"/>
            <a:ext cx="1450800" cy="1580040"/>
          </a:xfrm>
          <a:prstGeom prst="rect">
            <a:avLst/>
          </a:prstGeom>
          <a:ln w="0">
            <a:noFill/>
          </a:ln>
        </p:spPr>
      </p:pic>
      <p:sp>
        <p:nvSpPr>
          <p:cNvPr id="218" name="Picture 14"/>
          <p:cNvSpPr/>
          <p:nvPr/>
        </p:nvSpPr>
        <p:spPr>
          <a:xfrm>
            <a:off x="5957640" y="4236120"/>
            <a:ext cx="1782360" cy="1343880"/>
          </a:xfrm>
          <a:prstGeom prst="roundRect">
            <a:avLst>
              <a:gd name="adj" fmla="val 8594"/>
            </a:avLst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GB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219" name="Picture 15"/>
          <p:cNvPicPr/>
          <p:nvPr/>
        </p:nvPicPr>
        <p:blipFill>
          <a:blip r:embed="rId6"/>
          <a:stretch/>
        </p:blipFill>
        <p:spPr>
          <a:xfrm>
            <a:off x="8100000" y="2653560"/>
            <a:ext cx="2335680" cy="946440"/>
          </a:xfrm>
          <a:prstGeom prst="rect">
            <a:avLst/>
          </a:prstGeom>
          <a:ln w="0">
            <a:noFill/>
          </a:ln>
        </p:spPr>
      </p:pic>
      <p:pic>
        <p:nvPicPr>
          <p:cNvPr id="220" name="Picture 16"/>
          <p:cNvPicPr/>
          <p:nvPr/>
        </p:nvPicPr>
        <p:blipFill>
          <a:blip r:embed="rId7"/>
          <a:stretch/>
        </p:blipFill>
        <p:spPr>
          <a:xfrm>
            <a:off x="9000000" y="4382640"/>
            <a:ext cx="1975680" cy="837360"/>
          </a:xfrm>
          <a:prstGeom prst="rect">
            <a:avLst/>
          </a:prstGeom>
          <a:ln w="0">
            <a:noFill/>
          </a:ln>
        </p:spPr>
      </p:pic>
      <p:pic>
        <p:nvPicPr>
          <p:cNvPr id="221" name="Picture 17"/>
          <p:cNvPicPr/>
          <p:nvPr/>
        </p:nvPicPr>
        <p:blipFill>
          <a:blip r:embed="rId8"/>
          <a:stretch/>
        </p:blipFill>
        <p:spPr>
          <a:xfrm>
            <a:off x="3960000" y="3064320"/>
            <a:ext cx="1507680" cy="107568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53"/>
          </p:nvPr>
        </p:nvSpPr>
        <p:spPr/>
        <p:txBody>
          <a:bodyPr/>
          <a:lstStyle/>
          <a:p>
            <a:fld id="{51DDFC98-7FB0-423C-AFE4-0FD7E50A3661}" type="slidenum">
              <a:rPr/>
              <a:t>16</a:t>
            </a:fld>
            <a:endParaRPr/>
          </a:p>
        </p:txBody>
      </p:sp>
      <p:sp>
        <p:nvSpPr>
          <p:cNvPr id="4" name="Rectangle 133">
            <a:extLst>
              <a:ext uri="{FF2B5EF4-FFF2-40B4-BE49-F238E27FC236}">
                <a16:creationId xmlns:a16="http://schemas.microsoft.com/office/drawing/2014/main" id="{0E8C39B6-75E3-F602-7642-DB4B7FF62F3D}"/>
              </a:ext>
            </a:extLst>
          </p:cNvPr>
          <p:cNvSpPr/>
          <p:nvPr/>
        </p:nvSpPr>
        <p:spPr>
          <a:xfrm>
            <a:off x="11151000" y="5892480"/>
            <a:ext cx="3816360" cy="42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4F704CEC-A5E9-42AF-BC2E-19AEA96E11CB}" type="slidenum">
              <a:rPr lang="en-GB" sz="1800" b="0" strike="noStrike" spc="-1">
                <a:solidFill>
                  <a:srgbClr val="000000"/>
                </a:solidFill>
                <a:latin typeface="Kanit"/>
                <a:ea typeface="DejaVu Sans"/>
              </a:rPr>
              <a:t>16</a:t>
            </a:fld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6"/>
          <p:cNvSpPr/>
          <p:nvPr/>
        </p:nvSpPr>
        <p:spPr>
          <a:xfrm>
            <a:off x="856080" y="698040"/>
            <a:ext cx="9094320" cy="53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GB" sz="3400" b="1" strike="noStrike" spc="-1">
                <a:solidFill>
                  <a:srgbClr val="014701"/>
                </a:solidFill>
                <a:latin typeface="Arial"/>
                <a:ea typeface="Tahoma"/>
              </a:rPr>
              <a:t>Demo</a:t>
            </a:r>
            <a:endParaRPr lang="en-GB" sz="3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Rectangle 2"/>
          <p:cNvSpPr/>
          <p:nvPr/>
        </p:nvSpPr>
        <p:spPr>
          <a:xfrm>
            <a:off x="11151000" y="5892480"/>
            <a:ext cx="38156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725DD958-2791-44EF-B315-20625137247C}" type="slidenum">
              <a:rPr lang="en-GB" sz="1800" b="0" strike="noStrike" spc="-1">
                <a:solidFill>
                  <a:srgbClr val="000000"/>
                </a:solidFill>
                <a:latin typeface="Kanit"/>
                <a:ea typeface="DejaVu Sans"/>
              </a:rPr>
              <a:t>17</a:t>
            </a:fld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7" name="Picture 226"/>
          <p:cNvPicPr/>
          <p:nvPr/>
        </p:nvPicPr>
        <p:blipFill>
          <a:blip r:embed="rId2"/>
          <a:stretch/>
        </p:blipFill>
        <p:spPr>
          <a:xfrm>
            <a:off x="900000" y="1260000"/>
            <a:ext cx="2339640" cy="4859640"/>
          </a:xfrm>
          <a:prstGeom prst="rect">
            <a:avLst/>
          </a:prstGeom>
          <a:ln w="0">
            <a:noFill/>
          </a:ln>
        </p:spPr>
      </p:pic>
      <p:pic>
        <p:nvPicPr>
          <p:cNvPr id="228" name="Picture 227"/>
          <p:cNvPicPr/>
          <p:nvPr/>
        </p:nvPicPr>
        <p:blipFill>
          <a:blip r:embed="rId3"/>
          <a:stretch/>
        </p:blipFill>
        <p:spPr>
          <a:xfrm>
            <a:off x="3240000" y="1260000"/>
            <a:ext cx="2730600" cy="4859640"/>
          </a:xfrm>
          <a:prstGeom prst="rect">
            <a:avLst/>
          </a:prstGeom>
          <a:ln w="0">
            <a:noFill/>
          </a:ln>
        </p:spPr>
      </p:pic>
      <p:pic>
        <p:nvPicPr>
          <p:cNvPr id="229" name="Picture 228"/>
          <p:cNvPicPr/>
          <p:nvPr/>
        </p:nvPicPr>
        <p:blipFill>
          <a:blip r:embed="rId4"/>
          <a:stretch/>
        </p:blipFill>
        <p:spPr>
          <a:xfrm>
            <a:off x="5970960" y="1260000"/>
            <a:ext cx="2562120" cy="4859640"/>
          </a:xfrm>
          <a:prstGeom prst="rect">
            <a:avLst/>
          </a:prstGeom>
          <a:ln w="0">
            <a:noFill/>
          </a:ln>
        </p:spPr>
      </p:pic>
      <p:pic>
        <p:nvPicPr>
          <p:cNvPr id="230" name="Picture 229"/>
          <p:cNvPicPr/>
          <p:nvPr/>
        </p:nvPicPr>
        <p:blipFill>
          <a:blip r:embed="rId5"/>
          <a:stretch/>
        </p:blipFill>
        <p:spPr>
          <a:xfrm>
            <a:off x="8533440" y="1260000"/>
            <a:ext cx="2626200" cy="485964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5FA14C16-12F5-474A-82EF-65AC7EFBF04C}" type="slidenum">
              <a:rPr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9"/>
          <p:cNvSpPr/>
          <p:nvPr/>
        </p:nvSpPr>
        <p:spPr>
          <a:xfrm>
            <a:off x="856080" y="698040"/>
            <a:ext cx="9094320" cy="53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GB" sz="3400" b="1" strike="noStrike" spc="-1">
                <a:solidFill>
                  <a:srgbClr val="014701"/>
                </a:solidFill>
                <a:latin typeface="Arial"/>
                <a:ea typeface="Tahoma"/>
              </a:rPr>
              <a:t>Demo</a:t>
            </a:r>
            <a:endParaRPr lang="en-GB" sz="3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Rectangle 133"/>
          <p:cNvSpPr/>
          <p:nvPr/>
        </p:nvSpPr>
        <p:spPr>
          <a:xfrm>
            <a:off x="11151000" y="5892480"/>
            <a:ext cx="38156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64A133A5-C6F2-49C5-BFAF-69392D1AE537}" type="slidenum">
              <a:rPr lang="en-GB" sz="1800" b="0" strike="noStrike" spc="-1">
                <a:solidFill>
                  <a:srgbClr val="000000"/>
                </a:solidFill>
                <a:latin typeface="Kanit"/>
                <a:ea typeface="DejaVu Sans"/>
              </a:rPr>
              <a:t>18</a:t>
            </a:fld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36E76A18-6F47-4F8F-99E6-A498E734E24F}" type="slidenum">
              <a:rPr/>
              <a:t>18</a:t>
            </a:fld>
            <a:endParaRPr/>
          </a:p>
        </p:txBody>
      </p:sp>
      <p:pic>
        <p:nvPicPr>
          <p:cNvPr id="5" name="WhatsApp Video 2026-08-07 at 00.53.56">
            <a:hlinkClick r:id="" action="ppaction://media"/>
            <a:extLst>
              <a:ext uri="{FF2B5EF4-FFF2-40B4-BE49-F238E27FC236}">
                <a16:creationId xmlns:a16="http://schemas.microsoft.com/office/drawing/2014/main" id="{FDB2E0B0-6F47-686D-1503-9144A757759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4932" y="1218960"/>
            <a:ext cx="10026068" cy="50215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3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5"/>
          <p:cNvSpPr/>
          <p:nvPr/>
        </p:nvSpPr>
        <p:spPr>
          <a:xfrm>
            <a:off x="4010760" y="1823040"/>
            <a:ext cx="4087800" cy="51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GB" sz="2800" b="1" strike="noStrike" spc="-1">
                <a:solidFill>
                  <a:srgbClr val="004601"/>
                </a:solidFill>
                <a:latin typeface="Arial"/>
                <a:ea typeface="Tahoma"/>
              </a:rPr>
              <a:t>F.A.C.E.T.S Score: 90%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4" name="Picture 232"/>
          <p:cNvPicPr/>
          <p:nvPr/>
        </p:nvPicPr>
        <p:blipFill>
          <a:blip r:embed="rId2"/>
          <a:stretch/>
        </p:blipFill>
        <p:spPr>
          <a:xfrm>
            <a:off x="1800000" y="2612520"/>
            <a:ext cx="8595360" cy="2606040"/>
          </a:xfrm>
          <a:prstGeom prst="rect">
            <a:avLst/>
          </a:prstGeom>
          <a:ln w="0">
            <a:noFill/>
          </a:ln>
        </p:spPr>
      </p:pic>
      <p:sp>
        <p:nvSpPr>
          <p:cNvPr id="235" name="Rectangle 133"/>
          <p:cNvSpPr/>
          <p:nvPr/>
        </p:nvSpPr>
        <p:spPr>
          <a:xfrm>
            <a:off x="11151000" y="5892480"/>
            <a:ext cx="38156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EA2E09E9-B9C2-4B90-AC62-8CC6D1829326}" type="slidenum">
              <a:rPr lang="en-GB" sz="1800" b="0" strike="noStrike" spc="-1">
                <a:solidFill>
                  <a:srgbClr val="000000"/>
                </a:solidFill>
                <a:latin typeface="Kanit"/>
                <a:ea typeface="DejaVu Sans"/>
              </a:rPr>
              <a:t>19</a:t>
            </a:fld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1CE44518-76D9-4AA3-AF2A-5F13129BA759}" type="slidenum">
              <a:rPr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7"/>
          <p:cNvSpPr/>
          <p:nvPr/>
        </p:nvSpPr>
        <p:spPr>
          <a:xfrm>
            <a:off x="856440" y="698040"/>
            <a:ext cx="6541200" cy="53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GB" sz="3400" b="1" strike="noStrike" spc="-1">
                <a:solidFill>
                  <a:srgbClr val="014701"/>
                </a:solidFill>
                <a:latin typeface="Arial"/>
                <a:ea typeface="Tahoma"/>
              </a:rPr>
              <a:t>Conclusion</a:t>
            </a:r>
            <a:endParaRPr lang="en-GB" sz="3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Rectangle 4"/>
          <p:cNvSpPr/>
          <p:nvPr/>
        </p:nvSpPr>
        <p:spPr>
          <a:xfrm>
            <a:off x="900000" y="1709280"/>
            <a:ext cx="4308480" cy="403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GB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graphicFrame>
        <p:nvGraphicFramePr>
          <p:cNvPr id="238" name="Table 1"/>
          <p:cNvGraphicFramePr/>
          <p:nvPr/>
        </p:nvGraphicFramePr>
        <p:xfrm>
          <a:off x="750960" y="1440000"/>
          <a:ext cx="5344920" cy="4295880"/>
        </p:xfrm>
        <a:graphic>
          <a:graphicData uri="http://schemas.openxmlformats.org/drawingml/2006/table">
            <a:tbl>
              <a:tblPr/>
              <a:tblGrid>
                <a:gridCol w="5344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95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0" strike="noStrike" spc="-1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This project presents an </a:t>
                      </a:r>
                      <a:r>
                        <a:rPr lang="en-GB" sz="2000" b="0" strike="noStrike" spc="-1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AI-powered symptom assessment platform</a:t>
                      </a:r>
                      <a:r>
                        <a:rPr lang="en-US" sz="2000" b="0" strike="noStrike" spc="-1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 that supports early disease assessment and improves health decision-making.</a:t>
                      </a:r>
                      <a:endParaRPr lang="en-GB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lang="en-GB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1" strike="noStrike" spc="-1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Key Outcomes:</a:t>
                      </a:r>
                      <a:endParaRPr lang="en-GB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lang="en-GB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181717"/>
                        </a:buClr>
                        <a:buFont typeface="Wingdings" charset="2"/>
                        <a:buChar char=""/>
                      </a:pPr>
                      <a:r>
                        <a:rPr lang="en-US" sz="2000" b="0" strike="noStrike" spc="-1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improve early disease detection</a:t>
                      </a:r>
                      <a:endParaRPr lang="en-GB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lang="en-GB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181717"/>
                        </a:buClr>
                        <a:buFont typeface="Wingdings" charset="2"/>
                        <a:buChar char=""/>
                      </a:pPr>
                      <a:r>
                        <a:rPr lang="en-US" sz="2000" b="0" strike="noStrike" spc="-1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provide medical guidance</a:t>
                      </a:r>
                      <a:endParaRPr lang="en-GB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lang="en-GB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181717"/>
                        </a:buClr>
                        <a:buFont typeface="Wingdings" charset="2"/>
                        <a:buChar char=""/>
                      </a:pPr>
                      <a:r>
                        <a:rPr lang="en-US" sz="2000" b="0" strike="noStrike" spc="-1">
                          <a:solidFill>
                            <a:schemeClr val="lt2">
                              <a:lumMod val="10000"/>
                            </a:schemeClr>
                          </a:solidFill>
                          <a:latin typeface="Arial"/>
                          <a:ea typeface="DejaVu Sans"/>
                        </a:rPr>
                        <a:t>encourage timely medical consultation</a:t>
                      </a:r>
                      <a:endParaRPr lang="en-GB" sz="20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9" name="Rectangle 133"/>
          <p:cNvSpPr/>
          <p:nvPr/>
        </p:nvSpPr>
        <p:spPr>
          <a:xfrm>
            <a:off x="11122560" y="5940000"/>
            <a:ext cx="38156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DCE6D38B-B851-44E6-B573-D5A52A742C4F}" type="slidenum">
              <a:rPr lang="en-GB" sz="1800" b="0" strike="noStrike" spc="-1">
                <a:solidFill>
                  <a:srgbClr val="000000"/>
                </a:solidFill>
                <a:latin typeface="Kanit"/>
                <a:ea typeface="DejaVu Sans"/>
              </a:rPr>
              <a:t>20</a:t>
            </a:fld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0" name="Picture 238"/>
          <p:cNvPicPr/>
          <p:nvPr/>
        </p:nvPicPr>
        <p:blipFill>
          <a:blip r:embed="rId2"/>
          <a:srcRect t="20552"/>
          <a:stretch/>
        </p:blipFill>
        <p:spPr>
          <a:xfrm>
            <a:off x="6017040" y="1517400"/>
            <a:ext cx="4858560" cy="442116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6DCB1F0A-724D-416A-9CA3-717E60C97D21}" type="slidenum">
              <a:rPr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Picture 3"/>
          <p:cNvPicPr/>
          <p:nvPr/>
        </p:nvPicPr>
        <p:blipFill>
          <a:blip r:embed="rId2"/>
          <a:srcRect l="9170" t="9741" r="9747" b="11194"/>
          <a:stretch/>
        </p:blipFill>
        <p:spPr>
          <a:xfrm>
            <a:off x="909720" y="1518120"/>
            <a:ext cx="4385880" cy="3719520"/>
          </a:xfrm>
          <a:prstGeom prst="rect">
            <a:avLst/>
          </a:prstGeom>
          <a:ln w="0">
            <a:noFill/>
          </a:ln>
        </p:spPr>
      </p:pic>
      <p:sp>
        <p:nvSpPr>
          <p:cNvPr id="242" name="Rectangle 4"/>
          <p:cNvSpPr/>
          <p:nvPr/>
        </p:nvSpPr>
        <p:spPr>
          <a:xfrm>
            <a:off x="6312600" y="3803400"/>
            <a:ext cx="38635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App url: </a:t>
            </a:r>
            <a:r>
              <a:rPr lang="en-GB" sz="1800" b="0" u="sng" strike="noStrike" spc="-1">
                <a:solidFill>
                  <a:srgbClr val="0563C1"/>
                </a:solidFill>
                <a:uFillTx/>
                <a:latin typeface="Arial"/>
                <a:ea typeface="DejaVu Sans"/>
                <a:hlinkClick r:id="rId3"/>
              </a:rPr>
              <a:t>https://tropi-care.vercel.app/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Box 227"/>
          <p:cNvSpPr/>
          <p:nvPr/>
        </p:nvSpPr>
        <p:spPr>
          <a:xfrm>
            <a:off x="5995440" y="2580120"/>
            <a:ext cx="4498200" cy="111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GB" sz="2000" b="0" strike="noStrike" spc="-1">
                <a:solidFill>
                  <a:srgbClr val="000000"/>
                </a:solidFill>
                <a:latin typeface="Arial"/>
                <a:ea typeface="DejaVu Sans"/>
              </a:rPr>
              <a:t>PLEASE SCAN TO ACCESS THE LIVE APPLLICATION</a:t>
            </a:r>
            <a:endParaRPr lang="en-GB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7"/>
          <p:cNvSpPr/>
          <p:nvPr/>
        </p:nvSpPr>
        <p:spPr>
          <a:xfrm>
            <a:off x="856440" y="698040"/>
            <a:ext cx="6541200" cy="53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GB" sz="3400" b="1" strike="noStrike" spc="-1">
                <a:solidFill>
                  <a:srgbClr val="014701"/>
                </a:solidFill>
                <a:latin typeface="Arial"/>
                <a:ea typeface="Tahoma"/>
              </a:rPr>
              <a:t>TropiCare</a:t>
            </a:r>
            <a:endParaRPr lang="en-GB" sz="3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Rectangle 133"/>
          <p:cNvSpPr/>
          <p:nvPr/>
        </p:nvSpPr>
        <p:spPr>
          <a:xfrm>
            <a:off x="11122560" y="5940000"/>
            <a:ext cx="38156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4ACDDDC5-C2D1-4B47-B9A0-9D619F7E5178}" type="slidenum">
              <a:rPr lang="en-GB" sz="1800" b="0" strike="noStrike" spc="-1">
                <a:solidFill>
                  <a:srgbClr val="000000"/>
                </a:solidFill>
                <a:latin typeface="Kanit"/>
                <a:ea typeface="DejaVu Sans"/>
              </a:rPr>
              <a:t>21</a:t>
            </a:fld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00E5B7C1-26B9-446D-835C-9574B80E64EF}" type="slidenum">
              <a:rPr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0680" cy="237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1" strike="noStrike" spc="-1">
                <a:solidFill>
                  <a:schemeClr val="lt1"/>
                </a:solidFill>
                <a:latin typeface="Calibri"/>
                <a:ea typeface="DejaVu Sans"/>
              </a:rPr>
              <a:t>THANK YOU</a:t>
            </a:r>
            <a:endParaRPr lang="en-GB" sz="6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Rectangle 168"/>
          <p:cNvSpPr/>
          <p:nvPr/>
        </p:nvSpPr>
        <p:spPr>
          <a:xfrm>
            <a:off x="11520000" y="6232680"/>
            <a:ext cx="3811680" cy="41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455F3B1C-0BA2-471F-A83B-5DA0FBC56082}" type="slidenum">
              <a:rPr lang="en-GB" sz="1800" b="0" strike="noStrike" spc="-1">
                <a:solidFill>
                  <a:srgbClr val="FFFFFF"/>
                </a:solidFill>
                <a:latin typeface="Kanit"/>
                <a:ea typeface="DejaVu Sans"/>
              </a:rPr>
              <a:t>22</a:t>
            </a:fld>
            <a:endParaRPr lang="en-GB" sz="1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1_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Custom 2">
      <a:dk1>
        <a:srgbClr val="38201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280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KWC light</Template>
  <TotalTime>21145</TotalTime>
  <Words>498</Words>
  <Application>Microsoft Office PowerPoint</Application>
  <PresentationFormat>Widescreen</PresentationFormat>
  <Paragraphs>115</Paragraphs>
  <Slides>22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16</vt:i4>
      </vt:variant>
      <vt:variant>
        <vt:lpstr>Slide Titles</vt:lpstr>
      </vt:variant>
      <vt:variant>
        <vt:i4>22</vt:i4>
      </vt:variant>
    </vt:vector>
  </HeadingPairs>
  <TitlesOfParts>
    <vt:vector size="44" baseType="lpstr">
      <vt:lpstr>Arial</vt:lpstr>
      <vt:lpstr>Calibri</vt:lpstr>
      <vt:lpstr>Kanit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1_Office Theme</vt:lpstr>
      <vt:lpstr>Office Theme</vt:lpstr>
      <vt:lpstr>Office Theme</vt:lpstr>
      <vt:lpstr>Office Theme</vt:lpstr>
      <vt:lpstr>PowerPoint Presentation</vt:lpstr>
      <vt:lpstr>Outline</vt:lpstr>
      <vt:lpstr>PowerPoint Presentation</vt:lpstr>
      <vt:lpstr>PowerPoint Presentation</vt:lpstr>
      <vt:lpstr>General And Specific 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Vincent Hope</dc:creator>
  <dc:description/>
  <cp:lastModifiedBy>Kekeli Afrique-Ahali</cp:lastModifiedBy>
  <cp:revision>204</cp:revision>
  <dcterms:created xsi:type="dcterms:W3CDTF">2023-07-24T13:47:17Z</dcterms:created>
  <dcterms:modified xsi:type="dcterms:W3CDTF">2026-08-17T18:58:12Z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2</vt:r8>
  </property>
  <property fmtid="{D5CDD505-2E9C-101B-9397-08002B2CF9AE}" pid="3" name="MMClips">
    <vt:i4>1</vt:i4>
  </property>
  <property fmtid="{D5CDD505-2E9C-101B-9397-08002B2CF9AE}" pid="4" name="Notes">
    <vt:i4>1</vt:i4>
  </property>
  <property fmtid="{D5CDD505-2E9C-101B-9397-08002B2CF9AE}" pid="5" name="PresentationFormat">
    <vt:lpwstr>Widescreen</vt:lpwstr>
  </property>
  <property fmtid="{D5CDD505-2E9C-101B-9397-08002B2CF9AE}" pid="6" name="Slides">
    <vt:i4>22</vt:i4>
  </property>
</Properties>
</file>